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78" r:id="rId30"/>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I'm Mahabbat Hossain, presenting my final-year project: a University Management System for ICT Education, now at version 2.4.1 — a full-stack, role-based platform consolidating attendance, exams, results, fees, and scheduling for Student, Teacher, Parent, and Admin roles. In the next 12 to 15 minutes I'll cover the problem, the architecture, key features per role, and the test evidence, then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fragmentation: attendance in spreadsheets, results by email, fees in a separate finance tool. This causes three recurring problems: data duplication — the same fact recorded in more than one place can drift out of sync; weak accountability — no single audit trail for who approved a result or recorded a payment; and inconsistent access control — a shared spreadsheet can't guarantee a parent only sees their own child's data. The goal was one authoritative system where access control is enforced server-side, not just hidden in the UI.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objectives guided the build. Two I'd highlight: enforcing role-based access and ownership checks at the API layer, so the server rejects unauthorized requests regardless of the UI; and computing derived figures like attendance percentage or GPA live, every time, instead of storing them and risking staleness. All seven objectives were met and are backed by automated tests, which I'll show shortly.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status quo — fragmented tools, no shared access control, no audit trail. On the right is what I built: a decoupled REST API plus SPA platform where role-based access and ownership are enforced server-side on every request, and every derived number is computed live. This isn't trying to compete with a heavyweight ERP like Banner — it's purpose-built for this institution's five core processes, done properly rather than broadly.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backend: FastAPI on Python 3.12, PostgreSQL accessed exclusively through the SQLAlchemy ORM — no raw SQL anywhere, which closes off SQL injection by construction. Every schema change goes through Alembic as a versioned migration, ten so far, zero drift. On the frontend: React 18 with TypeScript and TailwindCSS, with all server state living in React Query, never duplicated into component state. Auth is JWT-based with rotated refresh tokens, and RBAC is enforced via dependency injection on every route. Documents use ReportLab and openpyxl — both pure Python.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decoupled two-tier architecture: an SPA talking to a versioned REST API over HTTPS, backed by PostgreSQL. The backend is strictly layered into three tiers. Routers only handle request/response shaping — no business logic, no direct queries. Services own all business rules and workflow transitions. Repositories own every SQLAlchemy query and contain no business logic. On the frontend, Pages call Feature hooks built on React Query, which render Components — no page calls fetch directly. PDF generation and notification dispatch run as background tasks so they never block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has 26 tables, fully relationally constrained, managed through ten Alembic migrations with a single head and zero drift, verified automatically in CI. Entities group into three families: core identity/reference data, academic entities like exams and results, and operational entities like attendance and fees. Two decisions worth noting: reference data — departments, courses, rooms — use hard deletes with ON DELETE RESTRICT; but identity records like Users, Students, and Teachers are only ever deactivated, never deleted, to preserve history. And derived figures like attendance percentage or GPA are never stored — always computed live at query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organized by domain — auth, users, exams, attendance, results, fees, schedule, notifications, reports — each mirrored across models, schemas, routers, services, and repositories. Every request body is validated against a Pydantic schema before reaching business logic, and every response is also a Pydantic schema — routers never return raw ORM models directly. All errors funnel through global exception handlers into one consistent JSON shape, and structured audit logs cover sensitive operations like result approval and payment recording. In total: 82 REST endpoints across 11 domains, with N+1 queries avoided through SQLAlchemy eager-loading.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follows a feature-sliced structure. Pages correspond one-to-one with the screens in the requirements document. Each API domain is wrapped in a typed React Query hook — components call useExams or useAttendance rather than fetch directly, and React Query handles caching and invalidation. Auth concerns — token attachment, silent refresh, route guarding — are centralized in one module. Rather than four separate app trees, one shared dashboard shell conditionally composes role-specific widgets. Worth stressing: frontend role-based hiding is a UX convenience only — actual enforcement always happens server-side, which I'll cover next.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Authentication uses JWT — a short-lived access token plus a refresh token rotated on every use. Passwords are hashed with bcrypt, never stored or logged in plaintext. There are four roles, and role checks apply via dependency injection on every route. But role alone isn't enough for endpoints scoped to one person's data — for a Parent, the service layer verifies the specific parent-student link actually exists before returning a child's exams, attendance, results, or fees. Change the student ID to someone else's child, and the server rejects it with 403, regardless of the frontend. A deactivated account is rejected immediately, even with a valid token.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architecture into the product. Major features fall into five groups: scheduling, with conflict detection and a Teacher-initiated, Admin-approved change-request workflow; attendance, with live percentages and automatic low-attendance alerts; exams, across four question types with a live timer and a dedicated grading interface; results, following a submitted-approved-published workflow with credit-weighted GPA and a PDF transcript; and fees, with auto-generated invoices and a PDF that relabels itself a receipt once paid. All of it is tied together by notifications reaching both the student and their linked parent.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Admin portal is the operational control center. The dashboard shows a system-wide summary; User Management covers the full account lifecycle for all roles; Academic Setup manages the reference data everything else depends on. The Timetable page creates class sessions with conflict detection, and — critically — reviews and approves or rejects Teacher-submitted change requests, closing a loop that used to be one-sided. Result Approval is the final checkpoint before a result becomes visible to a student or parent, and the Fee Dashboard and Reports page round out the financial side.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Teacher portal covers the full academic-delivery workflow. The Profile page now shows a Teacher's complete teaching history across every semester — a UI-labeling fix in this latest version; the backend data was always complete, but the label previously said 'this semester only.' Teachers mark attendance in the Attendance Marker, author exams across four question types in the Exam Builder, and manage each exam through its full status lifecycle. Anything that can't be auto-graded goes through the dedicated Grading Interface for marks and feedback per question.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 portal is the most feature-dense, since students are the primary consumer of nearly every module. The dashboard gives an at-a-glance view — attendance, upcoming exams, recent results. Students view their timetable, their attendance in table or calendar form, and take live timed exams with a real countdown and auto-submission on expiry. Once results are published — not before — they appear with grade letters and per-semester GPA, and the Fee Centre gives direct visibility into balance and downloadable invoices.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Parent portal follows a strict never-cross-child-boundaries principle — every view, whether fees, attendance, results, or timetable, is scoped to the linked child and verified server-side, not just filtered on the frontend. I want to highlight the newest addition in v2.4.1: the Upcoming Exams widget. Until this release that space literally said 'Not available' — a closer audit found the underlying endpoint would have returned every exam in the university to a Parent if wired up carelessly. We closed that gap properly: the exam endpoint now has a dedicated Parent branch with the same ownership check used everywhere else.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document-generation feature — attendance reports, transcripts, fee invoices — shares two things: pure-Python libraries, ReportLab for PDF and openpyxl for Excel, no external binary dependency; and they all run as background tasks, not inline in the request cycle, so generating a large report never slows the response the user is waiting on. A nice detail: the transcript's institutional seal is drawn programmatically since no real logo asset exists, and the fee invoice relabels itself 'Fee Receipt' automatically once paid — no separate generator needed.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Correctness here isn't a claim — it's backed by 549 automated tests, all passing: 484 backend with pytest, 65 frontend with Vitest. Unit tests exercise business logic with repositories stubbed, no database needed; integration tests run the full request-to-database cycle against a real, disposable PostgreSQL instance. Two disciplines I'd call out: every RBAC and ownership boundary has an explicit negative test — proving the wrong-role or wrong-owner request is actually rejected — and every workflow is tested for both valid and rejected invalid transitions. All of this runs in GitHub Actions on every push, including a schema-drift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followed a strict milestone-based process — visible directly in the tag history: eleven milestone tags to version 1.1, then a 2.0.0 tag marking the final milestone-program release, followed by four hardening passes — 2.1 through 2.4.1, the current version — closing gaps found in follow-up audits rather than adding unplanned scope. Every commit is scoped to one logical change, and any capability added beyond the original proposal is logged in a dedicated traceability document, classified and justified, so the project's actual scope is always precisely auditable. CI runs the full suite on every push.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challenges stood out. First, making sure ownership checks — not just role checks — were applied consistently everywhere a Parent could request child data; a later audit found the exam list endpoint had no Parent branch at all and would have silently returned every exam in the university. Closing that safely without breaking the existing Student and Admin paths took care. Second, designing workflow state machines so invalid transitions are rejected cleanly. Third, keeping the layered architecture disciplined as the system grew to eleven domains, resisting shortcuts in routers or repositories. And throughout, tests were written in the same change as the feature, never deferred.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were missed by accident — each is a deliberate, documented scope boundary. The most practically important next step is a shared rate limiter, since the current login rate-limiting is in-process memory and wouldn't hold up across horizontally-scaled replicas. Beyond that: email/SMS notification channels, a scheduled-task mechanism for things like fee due-date reminders — the system is purely event-driven today — and a cross-semester CGPA figure. A Parent-Teacher messaging module was explicitly out of scope and would be the largest addition on this list.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set out to replace the fragmented, spreadsheet-and-email approach to university record-keeping with one authoritative, role-aware system of record, and I believe it does that. Every functional requirement from the original proposal was implemented and is backed by a test. Every access-control boundary — role and ownership both — is enforced on the server and explicitly, negatively tested. Every number a user sees is computed live from source records. The system grew to eleven domains and eighty-two endpoints without becoming unmaintainable, and the 549-test automated suite gives confidence beyond manual testing. Thank you — I'm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end of the presentation — thank you for your attention. I'm ready to take any questions. If a question touches on something I've deliberately left out of scope, like the CGPA aggregate or the messaging module, I've documented exactly why on the Future Scope and Limitations slides, so I'm happy to go into more depth on the reasoning behind any of those decisions as well.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ties the previous feature list together into one concrete, end-to-end record: an Admin creates the semester, a Teacher builds and publishes an exam against it, a Student attempts it, the Teacher grades the submission, an Admin approves the result before it publishes, the Student sees it on their dashboard, and their linked Parent is notified — the same ownership and workflow-state rules covered on the Authentication and Major Features slides apply at every arrow in this chain.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 Id="rId6" Type="http://schemas.openxmlformats.org/officeDocument/2006/relationships/image" Target="../media/image17.jpg"/><Relationship Id="rId7"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jpg"/><Relationship Id="rId4" Type="http://schemas.openxmlformats.org/officeDocument/2006/relationships/image" Target="../media/image10.jpg"/><Relationship Id="rId5" Type="http://schemas.openxmlformats.org/officeDocument/2006/relationships/image" Target="../media/image12.jpg"/><Relationship Id="rId6"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97680"/>
            <a:ext cx="12191695" cy="635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332720" cy="1188720"/>
          </a:xfrm>
          <a:prstGeom prst="rect">
            <a:avLst/>
          </a:prstGeom>
          <a:noFill/>
        </p:spPr>
        <p:txBody>
          <a:bodyPr wrap="square">
            <a:spAutoFit/>
          </a:bodyPr>
          <a:lstStyle/>
          <a:p>
            <a:pPr>
              <a:defRPr sz="4400" b="1">
                <a:solidFill>
                  <a:srgbClr val="FFFFFF"/>
                </a:solidFill>
              </a:defRPr>
            </a:pPr>
            <a:r>
              <a:t>University Management System</a:t>
            </a:r>
          </a:p>
          <a:p>
            <a:pPr>
              <a:defRPr sz="2000">
                <a:solidFill>
                  <a:srgbClr val="C9DDE4"/>
                </a:solidFill>
              </a:defRPr>
            </a:pPr>
            <a:r>
              <a:t>ICT Education — Role-Based Web Platform for Academic Operations</a:t>
            </a:r>
          </a:p>
        </p:txBody>
      </p:sp>
      <p:sp>
        <p:nvSpPr>
          <p:cNvPr id="5" name="TextBox 4"/>
          <p:cNvSpPr txBox="1"/>
          <p:nvPr/>
        </p:nvSpPr>
        <p:spPr>
          <a:xfrm>
            <a:off x="914400" y="4526280"/>
            <a:ext cx="10058400" cy="1371600"/>
          </a:xfrm>
          <a:prstGeom prst="rect">
            <a:avLst/>
          </a:prstGeom>
          <a:noFill/>
        </p:spPr>
        <p:txBody>
          <a:bodyPr wrap="square">
            <a:spAutoFit/>
          </a:bodyPr>
          <a:lstStyle/>
          <a:p>
            <a:pPr>
              <a:defRPr sz="1600" b="1">
                <a:solidFill>
                  <a:srgbClr val="FFFFFF"/>
                </a:solidFill>
              </a:defRPr>
            </a:pPr>
            <a:r>
              <a:t>Final-Year Project Defense  |  Version v2.4.1</a:t>
            </a:r>
          </a:p>
          <a:p>
            <a:pPr>
              <a:defRPr sz="1500" b="0">
                <a:solidFill>
                  <a:srgbClr val="B9CED6"/>
                </a:solidFill>
              </a:defRPr>
            </a:pPr>
            <a:r>
              <a:t>Author: Mahabbat Hossain</a:t>
            </a:r>
          </a:p>
          <a:p>
            <a:pPr>
              <a:defRPr sz="1500" b="0">
                <a:solidFill>
                  <a:srgbClr val="B9CED6"/>
                </a:solidFill>
              </a:defRPr>
            </a:pPr>
            <a:r>
              <a:t>FastAPI · React + TypeScript · PostgreSQL · SQLAlchemy · Alembic</a:t>
            </a:r>
          </a:p>
        </p:txBody>
      </p:sp>
      <p:sp>
        <p:nvSpPr>
          <p:cNvPr id="6" name="TextBox 5"/>
          <p:cNvSpPr txBox="1"/>
          <p:nvPr/>
        </p:nvSpPr>
        <p:spPr>
          <a:xfrm>
            <a:off x="457200" y="6510528"/>
            <a:ext cx="8229600" cy="274320"/>
          </a:xfrm>
          <a:prstGeom prst="rect">
            <a:avLst/>
          </a:prstGeom>
          <a:noFill/>
        </p:spPr>
        <p:txBody>
          <a:bodyPr wrap="none">
            <a:spAutoFit/>
          </a:bodyPr>
          <a:lstStyle/>
          <a:p>
            <a:pPr>
              <a:defRPr sz="1000">
                <a:solidFill>
                  <a:srgbClr val="6B6B6B"/>
                </a:solidFill>
              </a:defRPr>
            </a:pPr>
            <a:r>
              <a:t>ICT Education — University Management System | v2.4.1</a:t>
            </a:r>
          </a:p>
        </p:txBody>
      </p:sp>
      <p:sp>
        <p:nvSpPr>
          <p:cNvPr id="7" name="TextBox 6"/>
          <p:cNvSpPr txBox="1"/>
          <p:nvPr/>
        </p:nvSpPr>
        <p:spPr>
          <a:xfrm>
            <a:off x="11155680" y="6510528"/>
            <a:ext cx="822960" cy="274320"/>
          </a:xfrm>
          <a:prstGeom prst="rect">
            <a:avLst/>
          </a:prstGeom>
          <a:noFill/>
        </p:spPr>
        <p:txBody>
          <a:bodyPr wrap="none">
            <a:spAutoFit/>
          </a:bodyPr>
          <a:lstStyle/>
          <a:p>
            <a:pPr algn="r">
              <a:defRPr sz="1000">
                <a:solidFill>
                  <a:srgbClr val="6B6B6B"/>
                </a:solidFill>
              </a:defRPr>
            </a:pPr>
            <a:r>
              <a:t>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Problem Statement</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Universities manage attendance, results, fees, and scheduling through disconnected tools</a:t>
            </a:r>
          </a:p>
          <a:p>
            <a:pPr>
              <a:spcAft>
                <a:spcPts val="1000"/>
              </a:spcAft>
              <a:defRPr sz="1700" b="0">
                <a:solidFill>
                  <a:srgbClr val="333333"/>
                </a:solidFill>
              </a:defRPr>
            </a:pPr>
            <a:r>
              <a:t>•  Attendance in spreadsheets, results distributed by email, fees in a separate finance tool</a:t>
            </a:r>
          </a:p>
          <a:p>
            <a:pPr>
              <a:spcAft>
                <a:spcPts val="1000"/>
              </a:spcAft>
              <a:defRPr sz="1700" b="0">
                <a:solidFill>
                  <a:srgbClr val="333333"/>
                </a:solidFill>
              </a:defRPr>
            </a:pPr>
            <a:r>
              <a:t>•  Consequence 1 — Data duplication: the same fact recorded in multiple places, able to drift out of sync</a:t>
            </a:r>
          </a:p>
          <a:p>
            <a:pPr>
              <a:spcAft>
                <a:spcPts val="1000"/>
              </a:spcAft>
              <a:defRPr sz="1700" b="0">
                <a:solidFill>
                  <a:srgbClr val="333333"/>
                </a:solidFill>
              </a:defRPr>
            </a:pPr>
            <a:r>
              <a:t>•  Consequence 2 — Weak accountability: no single audit trail for who approved a result or recorded a payment</a:t>
            </a:r>
          </a:p>
          <a:p>
            <a:pPr>
              <a:spcAft>
                <a:spcPts val="1000"/>
              </a:spcAft>
              <a:defRPr sz="1700" b="0">
                <a:solidFill>
                  <a:srgbClr val="333333"/>
                </a:solidFill>
              </a:defRPr>
            </a:pPr>
            <a:r>
              <a:t>•  Consequence 3 — Inconsistent access control: a shared spreadsheet cannot guarantee a parent only sees their own child's record</a:t>
            </a:r>
          </a:p>
          <a:p>
            <a:pPr>
              <a:spcAft>
                <a:spcPts val="1000"/>
              </a:spcAft>
              <a:defRPr sz="1700" b="0">
                <a:solidFill>
                  <a:srgbClr val="333333"/>
                </a:solidFill>
              </a:defRPr>
            </a:pPr>
            <a:r>
              <a:t>•  Goal: one authoritative, role-aware system of record, enforced at the server</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TextBox 6"/>
          <p:cNvSpPr txBox="1"/>
          <p:nvPr/>
        </p:nvSpPr>
        <p:spPr>
          <a:xfrm>
            <a:off x="7612360" y="1577320"/>
            <a:ext cx="3931960" cy="280000"/>
          </a:xfrm>
          <a:prstGeom prst="rect">
            <a:avLst/>
          </a:prstGeom>
          <a:noFill/>
        </p:spPr>
        <p:txBody>
          <a:bodyPr wrap="square" anchor="ctr" lIns="0" rIns="0" tIns="0" bIns="0">
            <a:spAutoFit/>
          </a:bodyPr>
          <a:lstStyle/>
          <a:p>
            <a:pPr algn="ctr"/>
            <a:r>
              <a:rPr sz="1200" b="1">
                <a:solidFill>
                  <a:srgbClr val="0E7C86"/>
                </a:solidFill>
                <a:latin typeface="Calibri"/>
              </a:rPr>
              <a:t>Before ICT Education UMS</a:t>
            </a:r>
          </a:p>
        </p:txBody>
      </p:sp>
      <p:sp>
        <p:nvSpPr>
          <p:cNvPr id="8" name="Rounded Rectangle 7"/>
          <p:cNvSpPr/>
          <p:nvPr/>
        </p:nvSpPr>
        <p:spPr>
          <a:xfrm>
            <a:off x="8162834" y="1917320"/>
            <a:ext cx="2831011" cy="1248917"/>
          </a:xfrm>
          <a:prstGeom prst="roundRect">
            <a:avLst/>
          </a:prstGeom>
          <a:solidFill>
            <a:srgbClr val="FFFFFF"/>
          </a:solidFill>
          <a:ln w="12700">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2000"/>
              <a:t>📊</a:t>
            </a:r>
          </a:p>
          <a:p>
            <a:pPr algn="ctr"/>
            <a:r>
              <a:rPr sz="1000" b="1">
                <a:solidFill>
                  <a:srgbClr val="333333"/>
                </a:solidFill>
                <a:latin typeface="Calibri"/>
              </a:rPr>
              <a:t>Spreadsheets</a:t>
            </a:r>
            <a:br/>
            <a:r>
              <a:rPr sz="1000" b="0">
                <a:solidFill>
                  <a:srgbClr val="333333"/>
                </a:solidFill>
                <a:latin typeface="Calibri"/>
              </a:rPr>
              <a:t>(Attendance)</a:t>
            </a:r>
          </a:p>
        </p:txBody>
      </p:sp>
      <p:sp>
        <p:nvSpPr>
          <p:cNvPr id="9" name="Rounded Rectangle 8"/>
          <p:cNvSpPr/>
          <p:nvPr/>
        </p:nvSpPr>
        <p:spPr>
          <a:xfrm>
            <a:off x="8162834" y="3256237"/>
            <a:ext cx="2831011" cy="1248917"/>
          </a:xfrm>
          <a:prstGeom prst="roundRect">
            <a:avLst/>
          </a:prstGeom>
          <a:solidFill>
            <a:srgbClr val="FFFFFF"/>
          </a:solidFill>
          <a:ln w="12700">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2000"/>
              <a:t>📧</a:t>
            </a:r>
          </a:p>
          <a:p>
            <a:pPr algn="ctr"/>
            <a:r>
              <a:rPr sz="1000" b="1">
                <a:solidFill>
                  <a:srgbClr val="333333"/>
                </a:solidFill>
                <a:latin typeface="Calibri"/>
              </a:rPr>
              <a:t>Email threads</a:t>
            </a:r>
            <a:br/>
            <a:r>
              <a:rPr sz="1000" b="0">
                <a:solidFill>
                  <a:srgbClr val="333333"/>
                </a:solidFill>
                <a:latin typeface="Calibri"/>
              </a:rPr>
              <a:t>(Results)</a:t>
            </a:r>
          </a:p>
        </p:txBody>
      </p:sp>
      <p:cxnSp>
        <p:nvCxnSpPr>
          <p:cNvPr id="10" name="Connector 9"/>
          <p:cNvCxnSpPr/>
          <p:nvPr/>
        </p:nvCxnSpPr>
        <p:spPr>
          <a:xfrm>
            <a:off x="9578339" y="3166237"/>
            <a:ext cx="0" cy="90000"/>
          </a:xfrm>
          <a:prstGeom prst="line">
            <a:avLst/>
          </a:prstGeom>
          <a:ln w="15875">
            <a:solidFill>
              <a:srgbClr val="D8CEA8"/>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62834" y="4595154"/>
            <a:ext cx="2831011" cy="1248917"/>
          </a:xfrm>
          <a:prstGeom prst="roundRect">
            <a:avLst/>
          </a:prstGeom>
          <a:solidFill>
            <a:srgbClr val="FFFFFF"/>
          </a:solidFill>
          <a:ln w="12700">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2000"/>
              <a:t>💰</a:t>
            </a:r>
          </a:p>
          <a:p>
            <a:pPr algn="ctr"/>
            <a:r>
              <a:rPr sz="1000" b="1">
                <a:solidFill>
                  <a:srgbClr val="333333"/>
                </a:solidFill>
                <a:latin typeface="Calibri"/>
              </a:rPr>
              <a:t>Separate finance tool</a:t>
            </a:r>
            <a:br/>
            <a:r>
              <a:rPr sz="1000" b="0">
                <a:solidFill>
                  <a:srgbClr val="333333"/>
                </a:solidFill>
                <a:latin typeface="Calibri"/>
              </a:rPr>
              <a:t>(Fees)</a:t>
            </a:r>
          </a:p>
        </p:txBody>
      </p:sp>
      <p:cxnSp>
        <p:nvCxnSpPr>
          <p:cNvPr id="12" name="Connector 11"/>
          <p:cNvCxnSpPr/>
          <p:nvPr/>
        </p:nvCxnSpPr>
        <p:spPr>
          <a:xfrm>
            <a:off x="9578339" y="4505154"/>
            <a:ext cx="0" cy="90000"/>
          </a:xfrm>
          <a:prstGeom prst="line">
            <a:avLst/>
          </a:prstGeom>
          <a:ln w="15875">
            <a:solidFill>
              <a:srgbClr val="D8CEA8"/>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612360" y="5914071"/>
            <a:ext cx="3931960" cy="210000"/>
          </a:xfrm>
          <a:prstGeom prst="rect">
            <a:avLst/>
          </a:prstGeom>
          <a:noFill/>
        </p:spPr>
        <p:txBody>
          <a:bodyPr wrap="square" lIns="0" rIns="0" tIns="0" bIns="0">
            <a:spAutoFit/>
          </a:bodyPr>
          <a:lstStyle/>
          <a:p>
            <a:pPr algn="ctr"/>
            <a:r>
              <a:rPr sz="950" b="0" i="1">
                <a:solidFill>
                  <a:srgbClr val="5A4A1E"/>
                </a:solidFill>
                <a:latin typeface="Calibri"/>
              </a:rPr>
              <a:t>No single source of truth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Objectives</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Replace spreadsheet/email/finance-tool tracking with one authoritative system of record</a:t>
            </a:r>
          </a:p>
          <a:p>
            <a:pPr>
              <a:spcAft>
                <a:spcPts val="1000"/>
              </a:spcAft>
              <a:defRPr sz="1700" b="0">
                <a:solidFill>
                  <a:srgbClr val="333333"/>
                </a:solidFill>
              </a:defRPr>
            </a:pPr>
            <a:r>
              <a:t>•  Enforce RBAC and per-record ownership at the API layer — never trust the frontend alone</a:t>
            </a:r>
          </a:p>
          <a:p>
            <a:pPr>
              <a:spcAft>
                <a:spcPts val="1000"/>
              </a:spcAft>
              <a:defRPr sz="1700" b="0">
                <a:solidFill>
                  <a:srgbClr val="333333"/>
                </a:solidFill>
              </a:defRPr>
            </a:pPr>
            <a:r>
              <a:t>•  Provide complete workflow lifecycles: exams (draft → open → published), results (submitted → approved → published)</a:t>
            </a:r>
          </a:p>
          <a:p>
            <a:pPr>
              <a:spcAft>
                <a:spcPts val="1000"/>
              </a:spcAft>
              <a:defRPr sz="1700" b="0">
                <a:solidFill>
                  <a:srgbClr val="333333"/>
                </a:solidFill>
              </a:defRPr>
            </a:pPr>
            <a:r>
              <a:t>•  Compute derived figures (attendance %, GPA, fee balance) live at query time — never cached or duplicated</a:t>
            </a:r>
          </a:p>
          <a:p>
            <a:pPr>
              <a:spcAft>
                <a:spcPts val="1000"/>
              </a:spcAft>
              <a:defRPr sz="1700" b="0">
                <a:solidFill>
                  <a:srgbClr val="333333"/>
                </a:solidFill>
              </a:defRPr>
            </a:pPr>
            <a:r>
              <a:t>•  Deliver role-appropriate dashboards for all four roles</a:t>
            </a:r>
          </a:p>
          <a:p>
            <a:pPr>
              <a:spcAft>
                <a:spcPts val="1000"/>
              </a:spcAft>
              <a:defRPr sz="1700" b="0">
                <a:solidFill>
                  <a:srgbClr val="333333"/>
                </a:solidFill>
              </a:defRPr>
            </a:pPr>
            <a:r>
              <a:t>•  Achieve verifiable correctness through automated testing, not manual inspection alone</a:t>
            </a:r>
          </a:p>
          <a:p>
            <a:pPr>
              <a:spcAft>
                <a:spcPts val="1000"/>
              </a:spcAft>
              <a:defRPr sz="1700" b="0">
                <a:solidFill>
                  <a:srgbClr val="333333"/>
                </a:solidFill>
              </a:defRPr>
            </a:pPr>
            <a:r>
              <a:t>•  Produce an independently deployable, CI-verified system</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Oval 6"/>
          <p:cNvSpPr/>
          <p:nvPr/>
        </p:nvSpPr>
        <p:spPr>
          <a:xfrm>
            <a:off x="8753340" y="2865480"/>
            <a:ext cx="1650000" cy="1650000"/>
          </a:xfrm>
          <a:prstGeom prst="ellipse">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53340" y="3065480"/>
            <a:ext cx="1250000" cy="1250000"/>
          </a:xfrm>
          <a:prstGeom prst="ellipse">
            <a:avLst/>
          </a:prstGeom>
          <a:solidFill>
            <a:srgbClr val="DDEEEF"/>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53340" y="3265480"/>
            <a:ext cx="850000" cy="850000"/>
          </a:xfrm>
          <a:prstGeom prst="ellipse">
            <a:avLst/>
          </a:prstGeom>
          <a:solidFill>
            <a:srgbClr val="0E7C86"/>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9258340" y="3370480"/>
            <a:ext cx="640000" cy="640000"/>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12360" y="4640480"/>
            <a:ext cx="3931960" cy="400000"/>
          </a:xfrm>
          <a:prstGeom prst="rect">
            <a:avLst/>
          </a:prstGeom>
          <a:noFill/>
        </p:spPr>
        <p:txBody>
          <a:bodyPr wrap="square" anchor="ctr" lIns="0" rIns="0" tIns="0" bIns="0">
            <a:spAutoFit/>
          </a:bodyPr>
          <a:lstStyle/>
          <a:p>
            <a:pPr algn="ctr"/>
            <a:r>
              <a:rPr sz="1500" b="1">
                <a:solidFill>
                  <a:srgbClr val="0F2442"/>
                </a:solidFill>
                <a:latin typeface="Calibri"/>
              </a:rPr>
              <a:t>7 Objectives</a:t>
            </a:r>
          </a:p>
        </p:txBody>
      </p:sp>
      <p:sp>
        <p:nvSpPr>
          <p:cNvPr id="12" name="TextBox 11"/>
          <p:cNvSpPr txBox="1"/>
          <p:nvPr/>
        </p:nvSpPr>
        <p:spPr>
          <a:xfrm>
            <a:off x="7612360" y="5040480"/>
            <a:ext cx="3931960" cy="210000"/>
          </a:xfrm>
          <a:prstGeom prst="rect">
            <a:avLst/>
          </a:prstGeom>
          <a:noFill/>
        </p:spPr>
        <p:txBody>
          <a:bodyPr wrap="square" lIns="0" rIns="0" tIns="0" bIns="0">
            <a:spAutoFit/>
          </a:bodyPr>
          <a:lstStyle/>
          <a:p>
            <a:pPr algn="ctr"/>
            <a:r>
              <a:rPr sz="950" b="0" i="1">
                <a:solidFill>
                  <a:srgbClr val="5A4A1E"/>
                </a:solidFill>
                <a:latin typeface="Calibri"/>
              </a:rPr>
              <a:t>guiding every design decision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Existing System vs. Proposed System</a:t>
            </a:r>
          </a:p>
        </p:txBody>
      </p:sp>
      <p:sp>
        <p:nvSpPr>
          <p:cNvPr id="5" name="Rounded Rectangle 4"/>
          <p:cNvSpPr/>
          <p:nvPr/>
        </p:nvSpPr>
        <p:spPr>
          <a:xfrm>
            <a:off x="502920" y="1371600"/>
            <a:ext cx="5394960" cy="4846320"/>
          </a:xfrm>
          <a:prstGeom prst="roundRect">
            <a:avLst/>
          </a:prstGeom>
          <a:solidFill>
            <a:srgbClr val="F7EAEA"/>
          </a:solidFill>
          <a:ln>
            <a:solidFill>
              <a:srgbClr val="D8A8A8"/>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800">
                <a:solidFill>
                  <a:srgbClr val="8A2B2B"/>
                </a:solidFill>
              </a:defRPr>
            </a:pPr>
            <a:r>
              <a:t>Existing Approach</a:t>
            </a:r>
          </a:p>
          <a:p>
            <a:pPr>
              <a:spcAft>
                <a:spcPts val="800"/>
              </a:spcAft>
              <a:defRPr sz="1350">
                <a:solidFill>
                  <a:srgbClr val="6B2B2B"/>
                </a:solidFill>
              </a:defRPr>
            </a:pPr>
            <a:r>
              <a:t>✗  Spreadsheets for attendance — manual, error-prone, no audit trail</a:t>
            </a:r>
          </a:p>
          <a:p>
            <a:pPr>
              <a:spcAft>
                <a:spcPts val="800"/>
              </a:spcAft>
              <a:defRPr sz="1350">
                <a:solidFill>
                  <a:srgbClr val="6B2B2B"/>
                </a:solidFill>
              </a:defRPr>
            </a:pPr>
            <a:r>
              <a:t>✗  Results distributed by email — slow, unstructured, easy to lose</a:t>
            </a:r>
          </a:p>
          <a:p>
            <a:pPr>
              <a:spcAft>
                <a:spcPts val="800"/>
              </a:spcAft>
              <a:defRPr sz="1350">
                <a:solidFill>
                  <a:srgbClr val="6B2B2B"/>
                </a:solidFill>
              </a:defRPr>
            </a:pPr>
            <a:r>
              <a:t>✗  Separate, siloed finance software for fees</a:t>
            </a:r>
          </a:p>
          <a:p>
            <a:pPr>
              <a:spcAft>
                <a:spcPts val="800"/>
              </a:spcAft>
              <a:defRPr sz="1350">
                <a:solidFill>
                  <a:srgbClr val="6B2B2B"/>
                </a:solidFill>
              </a:defRPr>
            </a:pPr>
            <a:r>
              <a:t>✗  Scheduling handled ad hoc, often on paper or shared documents</a:t>
            </a:r>
          </a:p>
          <a:p>
            <a:pPr>
              <a:spcAft>
                <a:spcPts val="800"/>
              </a:spcAft>
              <a:defRPr sz="1350">
                <a:solidFill>
                  <a:srgbClr val="6B2B2B"/>
                </a:solidFill>
              </a:defRPr>
            </a:pPr>
            <a:r>
              <a:t>✗  No unified, role-based access control across tools</a:t>
            </a:r>
          </a:p>
          <a:p>
            <a:pPr>
              <a:spcAft>
                <a:spcPts val="800"/>
              </a:spcAft>
              <a:defRPr sz="1350">
                <a:solidFill>
                  <a:srgbClr val="6B2B2B"/>
                </a:solidFill>
              </a:defRPr>
            </a:pPr>
            <a:r>
              <a:t>✗  LMS platforms (e.g. Moodle) cover course content, not fees/scheduling/admin records</a:t>
            </a:r>
          </a:p>
          <a:p>
            <a:pPr>
              <a:spcAft>
                <a:spcPts val="800"/>
              </a:spcAft>
              <a:defRPr sz="1350">
                <a:solidFill>
                  <a:srgbClr val="6B2B2B"/>
                </a:solidFill>
              </a:defRPr>
            </a:pPr>
            <a:r>
              <a:t>✗  ERP platforms (Banner, PeopleSoft) are comprehensive but heavyweight and licensed</a:t>
            </a:r>
          </a:p>
        </p:txBody>
      </p:sp>
      <p:sp>
        <p:nvSpPr>
          <p:cNvPr id="6" name="Rounded Rectangle 5"/>
          <p:cNvSpPr/>
          <p:nvPr/>
        </p:nvSpPr>
        <p:spPr>
          <a:xfrm>
            <a:off x="6263640" y="1371600"/>
            <a:ext cx="5394960" cy="4846320"/>
          </a:xfrm>
          <a:prstGeom prst="roundRect">
            <a:avLst/>
          </a:prstGeom>
          <a:solidFill>
            <a:srgbClr val="E7F4F4"/>
          </a:solidFill>
          <a:ln>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800">
                <a:solidFill>
                  <a:srgbClr val="0E7C86"/>
                </a:solidFill>
              </a:defRPr>
            </a:pPr>
            <a:r>
              <a:t>Proposed System (This Project)</a:t>
            </a:r>
          </a:p>
          <a:p>
            <a:pPr>
              <a:spcAft>
                <a:spcPts val="800"/>
              </a:spcAft>
              <a:defRPr sz="1350">
                <a:solidFill>
                  <a:srgbClr val="0B555C"/>
                </a:solidFill>
              </a:defRPr>
            </a:pPr>
            <a:r>
              <a:t>✓  One decoupled REST API + SPA platform for all five domains</a:t>
            </a:r>
          </a:p>
          <a:p>
            <a:pPr>
              <a:spcAft>
                <a:spcPts val="800"/>
              </a:spcAft>
              <a:defRPr sz="1350">
                <a:solidFill>
                  <a:srgbClr val="0B555C"/>
                </a:solidFill>
              </a:defRPr>
            </a:pPr>
            <a:r>
              <a:t>✓  Server-enforced RBAC + ownership checks on every request</a:t>
            </a:r>
          </a:p>
          <a:p>
            <a:pPr>
              <a:spcAft>
                <a:spcPts val="800"/>
              </a:spcAft>
              <a:defRPr sz="1350">
                <a:solidFill>
                  <a:srgbClr val="0B555C"/>
                </a:solidFill>
              </a:defRPr>
            </a:pPr>
            <a:r>
              <a:t>✓  Live-computed attendance %, GPA, and fee balances — never stale</a:t>
            </a:r>
          </a:p>
          <a:p>
            <a:pPr>
              <a:spcAft>
                <a:spcPts val="800"/>
              </a:spcAft>
              <a:defRPr sz="1350">
                <a:solidFill>
                  <a:srgbClr val="0B555C"/>
                </a:solidFill>
              </a:defRPr>
            </a:pPr>
            <a:r>
              <a:t>✓  Full workflow state machines: exam and result lifecycles, schedule change-requests</a:t>
            </a:r>
          </a:p>
          <a:p>
            <a:pPr>
              <a:spcAft>
                <a:spcPts val="800"/>
              </a:spcAft>
              <a:defRPr sz="1350">
                <a:solidFill>
                  <a:srgbClr val="0B555C"/>
                </a:solidFill>
              </a:defRPr>
            </a:pPr>
            <a:r>
              <a:t>✓  Purpose-built for one institution's exact scoped workflow — not a heavyweight multi-tenant ERP</a:t>
            </a:r>
          </a:p>
          <a:p>
            <a:pPr>
              <a:spcAft>
                <a:spcPts val="800"/>
              </a:spcAft>
              <a:defRPr sz="1350">
                <a:solidFill>
                  <a:srgbClr val="0B555C"/>
                </a:solidFill>
              </a:defRPr>
            </a:pPr>
            <a:r>
              <a:t>✓  Event-driven notifications reaching students and their linked parents</a:t>
            </a:r>
          </a:p>
          <a:p>
            <a:pPr>
              <a:spcAft>
                <a:spcPts val="800"/>
              </a:spcAft>
              <a:defRPr sz="1350">
                <a:solidFill>
                  <a:srgbClr val="0B555C"/>
                </a:solidFill>
              </a:defRPr>
            </a:pPr>
            <a:r>
              <a:t>✓  Continuously verified by a 549-test automated suite via CI</a:t>
            </a:r>
          </a:p>
        </p:txBody>
      </p:sp>
      <p:sp>
        <p:nvSpPr>
          <p:cNvPr id="7" name="TextBox 6"/>
          <p:cNvSpPr txBox="1"/>
          <p:nvPr/>
        </p:nvSpPr>
        <p:spPr>
          <a:xfrm>
            <a:off x="457200" y="6510528"/>
            <a:ext cx="8229600" cy="274320"/>
          </a:xfrm>
          <a:prstGeom prst="rect">
            <a:avLst/>
          </a:prstGeom>
          <a:noFill/>
        </p:spPr>
        <p:txBody>
          <a:bodyPr wrap="none">
            <a:spAutoFit/>
          </a:bodyPr>
          <a:lstStyle/>
          <a:p>
            <a:pPr>
              <a:defRPr sz="1000">
                <a:solidFill>
                  <a:srgbClr val="6B6B6B"/>
                </a:solidFill>
              </a:defRPr>
            </a:pPr>
            <a:r>
              <a:t>ICT Education — University Management System | v2.4.1</a:t>
            </a:r>
          </a:p>
        </p:txBody>
      </p:sp>
      <p:sp>
        <p:nvSpPr>
          <p:cNvPr id="8" name="TextBox 7"/>
          <p:cNvSpPr txBox="1"/>
          <p:nvPr/>
        </p:nvSpPr>
        <p:spPr>
          <a:xfrm>
            <a:off x="11155680" y="6510528"/>
            <a:ext cx="822960" cy="274320"/>
          </a:xfrm>
          <a:prstGeom prst="rect">
            <a:avLst/>
          </a:prstGeom>
          <a:noFill/>
        </p:spPr>
        <p:txBody>
          <a:bodyPr wrap="none">
            <a:spAutoFit/>
          </a:bodyPr>
          <a:lstStyle/>
          <a:p>
            <a:pPr algn="r">
              <a:defRPr sz="1000">
                <a:solidFill>
                  <a:srgbClr val="6B6B6B"/>
                </a:solidFill>
              </a:defRPr>
            </a:pPr>
            <a: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Technology Stack</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Backend: FastAPI (Python 3.12) — async-capable, auto-generated OpenAPI schema</a:t>
            </a:r>
          </a:p>
          <a:p>
            <a:pPr>
              <a:spcAft>
                <a:spcPts val="1000"/>
              </a:spcAft>
              <a:defRPr sz="1700" b="0">
                <a:solidFill>
                  <a:srgbClr val="333333"/>
                </a:solidFill>
              </a:defRPr>
            </a:pPr>
            <a:r>
              <a:t>•  Database: PostgreSQL, accessed via SQLAlchemy ORM — no raw string-interpolated SQL, ever</a:t>
            </a:r>
          </a:p>
          <a:p>
            <a:pPr>
              <a:spcAft>
                <a:spcPts val="1000"/>
              </a:spcAft>
              <a:defRPr sz="1700" b="0">
                <a:solidFill>
                  <a:srgbClr val="333333"/>
                </a:solidFill>
              </a:defRPr>
            </a:pPr>
            <a:r>
              <a:t>•  Migrations: Alembic — every schema change is a reviewed, versioned revision (10 migrations, zero drift)</a:t>
            </a:r>
          </a:p>
          <a:p>
            <a:pPr>
              <a:spcAft>
                <a:spcPts val="1000"/>
              </a:spcAft>
              <a:defRPr sz="1700" b="0">
                <a:solidFill>
                  <a:srgbClr val="333333"/>
                </a:solidFill>
              </a:defRPr>
            </a:pPr>
            <a:r>
              <a:t>•  Frontend: React 18 + TypeScript, styled with TailwindCSS</a:t>
            </a:r>
          </a:p>
          <a:p>
            <a:pPr>
              <a:spcAft>
                <a:spcPts val="1000"/>
              </a:spcAft>
              <a:defRPr sz="1700" b="0">
                <a:solidFill>
                  <a:srgbClr val="333333"/>
                </a:solidFill>
              </a:defRPr>
            </a:pPr>
            <a:r>
              <a:t>•  Server-state layer: TanStack React Query — no server data duplicated into local/global state</a:t>
            </a:r>
          </a:p>
          <a:p>
            <a:pPr>
              <a:spcAft>
                <a:spcPts val="1000"/>
              </a:spcAft>
              <a:defRPr sz="1700" b="0">
                <a:solidFill>
                  <a:srgbClr val="333333"/>
                </a:solidFill>
              </a:defRPr>
            </a:pPr>
            <a:r>
              <a:t>•  Auth: JWT (access + refresh tokens), rotated on use</a:t>
            </a:r>
          </a:p>
          <a:p>
            <a:pPr>
              <a:spcAft>
                <a:spcPts val="1000"/>
              </a:spcAft>
              <a:defRPr sz="1700" b="0">
                <a:solidFill>
                  <a:srgbClr val="333333"/>
                </a:solidFill>
              </a:defRPr>
            </a:pPr>
            <a:r>
              <a:t>•  Documents: ReportLab (PDF) and openpyxl (Excel) for transcripts, invoices, and reports</a:t>
            </a:r>
          </a:p>
          <a:p>
            <a:pPr>
              <a:spcAft>
                <a:spcPts val="1000"/>
              </a:spcAft>
              <a:defRPr sz="1700" b="0">
                <a:solidFill>
                  <a:srgbClr val="333333"/>
                </a:solidFill>
              </a:defRPr>
            </a:pPr>
            <a:r>
              <a:t>•  Access control: Role-Based Access Control (RBAC) enforced via dependency injection on every route</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TextBox 6"/>
          <p:cNvSpPr txBox="1"/>
          <p:nvPr/>
        </p:nvSpPr>
        <p:spPr>
          <a:xfrm>
            <a:off x="7612360" y="1577320"/>
            <a:ext cx="3931960" cy="260000"/>
          </a:xfrm>
          <a:prstGeom prst="rect">
            <a:avLst/>
          </a:prstGeom>
          <a:noFill/>
        </p:spPr>
        <p:txBody>
          <a:bodyPr wrap="square" anchor="ctr" lIns="0" rIns="0" tIns="0" bIns="0">
            <a:spAutoFit/>
          </a:bodyPr>
          <a:lstStyle/>
          <a:p>
            <a:pPr algn="ctr"/>
            <a:r>
              <a:rPr sz="1200" b="1">
                <a:solidFill>
                  <a:srgbClr val="0E7C86"/>
                </a:solidFill>
                <a:latin typeface="Calibri"/>
              </a:rPr>
              <a:t>Technology Stack</a:t>
            </a:r>
          </a:p>
        </p:txBody>
      </p:sp>
      <p:sp>
        <p:nvSpPr>
          <p:cNvPr id="8" name="TextBox 7"/>
          <p:cNvSpPr txBox="1"/>
          <p:nvPr/>
        </p:nvSpPr>
        <p:spPr>
          <a:xfrm>
            <a:off x="7612360" y="1907320"/>
            <a:ext cx="1895980" cy="260000"/>
          </a:xfrm>
          <a:prstGeom prst="rect">
            <a:avLst/>
          </a:prstGeom>
          <a:noFill/>
        </p:spPr>
        <p:txBody>
          <a:bodyPr wrap="square" anchor="ctr" lIns="0" rIns="0" tIns="0" bIns="0">
            <a:spAutoFit/>
          </a:bodyPr>
          <a:lstStyle/>
          <a:p>
            <a:pPr algn="ctr"/>
            <a:r>
              <a:rPr sz="1050" b="1">
                <a:solidFill>
                  <a:srgbClr val="0F2442"/>
                </a:solidFill>
                <a:latin typeface="Calibri"/>
              </a:rPr>
              <a:t>Backend</a:t>
            </a:r>
          </a:p>
        </p:txBody>
      </p:sp>
      <p:sp>
        <p:nvSpPr>
          <p:cNvPr id="9" name="TextBox 8"/>
          <p:cNvSpPr txBox="1"/>
          <p:nvPr/>
        </p:nvSpPr>
        <p:spPr>
          <a:xfrm>
            <a:off x="9648340" y="1907320"/>
            <a:ext cx="1895980" cy="260000"/>
          </a:xfrm>
          <a:prstGeom prst="rect">
            <a:avLst/>
          </a:prstGeom>
          <a:noFill/>
        </p:spPr>
        <p:txBody>
          <a:bodyPr wrap="square" anchor="ctr" lIns="0" rIns="0" tIns="0" bIns="0">
            <a:spAutoFit/>
          </a:bodyPr>
          <a:lstStyle/>
          <a:p>
            <a:pPr algn="ctr"/>
            <a:r>
              <a:rPr sz="1050" b="1">
                <a:solidFill>
                  <a:srgbClr val="0F2442"/>
                </a:solidFill>
                <a:latin typeface="Calibri"/>
              </a:rPr>
              <a:t>Frontend</a:t>
            </a:r>
          </a:p>
        </p:txBody>
      </p:sp>
      <p:sp>
        <p:nvSpPr>
          <p:cNvPr id="10" name="Rounded Rectangle 9"/>
          <p:cNvSpPr/>
          <p:nvPr/>
        </p:nvSpPr>
        <p:spPr>
          <a:xfrm>
            <a:off x="7612360" y="2217320"/>
            <a:ext cx="1895980" cy="34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FastAPI</a:t>
            </a:r>
          </a:p>
        </p:txBody>
      </p:sp>
      <p:sp>
        <p:nvSpPr>
          <p:cNvPr id="11" name="Rounded Rectangle 10"/>
          <p:cNvSpPr/>
          <p:nvPr/>
        </p:nvSpPr>
        <p:spPr>
          <a:xfrm>
            <a:off x="7612360" y="2637320"/>
            <a:ext cx="1895980" cy="34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PostgreSQL</a:t>
            </a:r>
          </a:p>
        </p:txBody>
      </p:sp>
      <p:sp>
        <p:nvSpPr>
          <p:cNvPr id="12" name="Rounded Rectangle 11"/>
          <p:cNvSpPr/>
          <p:nvPr/>
        </p:nvSpPr>
        <p:spPr>
          <a:xfrm>
            <a:off x="7612360" y="3057320"/>
            <a:ext cx="1895980" cy="34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SQLAlchemy</a:t>
            </a:r>
          </a:p>
        </p:txBody>
      </p:sp>
      <p:sp>
        <p:nvSpPr>
          <p:cNvPr id="13" name="Rounded Rectangle 12"/>
          <p:cNvSpPr/>
          <p:nvPr/>
        </p:nvSpPr>
        <p:spPr>
          <a:xfrm>
            <a:off x="7612360" y="3477320"/>
            <a:ext cx="1895980" cy="34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Alembic</a:t>
            </a:r>
          </a:p>
        </p:txBody>
      </p:sp>
      <p:sp>
        <p:nvSpPr>
          <p:cNvPr id="14" name="Rounded Rectangle 13"/>
          <p:cNvSpPr/>
          <p:nvPr/>
        </p:nvSpPr>
        <p:spPr>
          <a:xfrm>
            <a:off x="7612360" y="3897320"/>
            <a:ext cx="1895980" cy="34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JWT Auth</a:t>
            </a:r>
          </a:p>
        </p:txBody>
      </p:sp>
      <p:sp>
        <p:nvSpPr>
          <p:cNvPr id="15" name="Rounded Rectangle 14"/>
          <p:cNvSpPr/>
          <p:nvPr/>
        </p:nvSpPr>
        <p:spPr>
          <a:xfrm>
            <a:off x="9648340" y="2217320"/>
            <a:ext cx="1895980" cy="3400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React 18</a:t>
            </a:r>
          </a:p>
        </p:txBody>
      </p:sp>
      <p:sp>
        <p:nvSpPr>
          <p:cNvPr id="16" name="Rounded Rectangle 15"/>
          <p:cNvSpPr/>
          <p:nvPr/>
        </p:nvSpPr>
        <p:spPr>
          <a:xfrm>
            <a:off x="9648340" y="2637320"/>
            <a:ext cx="1895980" cy="3400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TypeScript</a:t>
            </a:r>
          </a:p>
        </p:txBody>
      </p:sp>
      <p:sp>
        <p:nvSpPr>
          <p:cNvPr id="17" name="Rounded Rectangle 16"/>
          <p:cNvSpPr/>
          <p:nvPr/>
        </p:nvSpPr>
        <p:spPr>
          <a:xfrm>
            <a:off x="9648340" y="3057320"/>
            <a:ext cx="1895980" cy="3400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TailwindCSS</a:t>
            </a:r>
          </a:p>
        </p:txBody>
      </p:sp>
      <p:sp>
        <p:nvSpPr>
          <p:cNvPr id="18" name="Rounded Rectangle 17"/>
          <p:cNvSpPr/>
          <p:nvPr/>
        </p:nvSpPr>
        <p:spPr>
          <a:xfrm>
            <a:off x="9648340" y="3477320"/>
            <a:ext cx="1895980" cy="3400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React Query</a:t>
            </a:r>
          </a:p>
        </p:txBody>
      </p:sp>
      <p:sp>
        <p:nvSpPr>
          <p:cNvPr id="19" name="Rounded Rectangle 18"/>
          <p:cNvSpPr/>
          <p:nvPr/>
        </p:nvSpPr>
        <p:spPr>
          <a:xfrm>
            <a:off x="9648340" y="3897320"/>
            <a:ext cx="1895980" cy="3400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00" b="1">
                <a:solidFill>
                  <a:srgbClr val="FFFFFF"/>
                </a:solidFill>
                <a:latin typeface="Calibri"/>
              </a:rPr>
              <a:t>Axios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System Architecture</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Decoupled two-tier architecture: SPA frontend + REST API backend + PostgreSQL</a:t>
            </a:r>
          </a:p>
          <a:p>
            <a:pPr>
              <a:spcAft>
                <a:spcPts val="1000"/>
              </a:spcAft>
              <a:defRPr sz="1700" b="0">
                <a:solidFill>
                  <a:srgbClr val="333333"/>
                </a:solidFill>
              </a:defRPr>
            </a:pPr>
            <a:r>
              <a:t>•  Backend layered strictly: Router → Service → Repository</a:t>
            </a:r>
          </a:p>
          <a:p>
            <a:pPr>
              <a:spcAft>
                <a:spcPts val="1000"/>
              </a:spcAft>
              <a:defRPr sz="1700" b="0">
                <a:solidFill>
                  <a:srgbClr val="333333"/>
                </a:solidFill>
              </a:defRPr>
            </a:pPr>
            <a:r>
              <a:t>•  Routers handle request/response shaping only — no business logic, no direct ORM queries</a:t>
            </a:r>
          </a:p>
          <a:p>
            <a:pPr>
              <a:spcAft>
                <a:spcPts val="1000"/>
              </a:spcAft>
              <a:defRPr sz="1700" b="0">
                <a:solidFill>
                  <a:srgbClr val="333333"/>
                </a:solidFill>
              </a:defRPr>
            </a:pPr>
            <a:r>
              <a:t>•  Services own business rules and workflow state transitions</a:t>
            </a:r>
          </a:p>
          <a:p>
            <a:pPr>
              <a:spcAft>
                <a:spcPts val="1000"/>
              </a:spcAft>
              <a:defRPr sz="1700" b="0">
                <a:solidFill>
                  <a:srgbClr val="333333"/>
                </a:solidFill>
              </a:defRPr>
            </a:pPr>
            <a:r>
              <a:t>•  Repositories own all SQLAlchemy queries — no business logic</a:t>
            </a:r>
          </a:p>
          <a:p>
            <a:pPr>
              <a:spcAft>
                <a:spcPts val="1000"/>
              </a:spcAft>
              <a:defRPr sz="1700" b="0">
                <a:solidFill>
                  <a:srgbClr val="333333"/>
                </a:solidFill>
              </a:defRPr>
            </a:pPr>
            <a:r>
              <a:t>•  Frontend: Pages → Feature hooks (React Query) → Components</a:t>
            </a:r>
          </a:p>
          <a:p>
            <a:pPr>
              <a:spcAft>
                <a:spcPts val="1000"/>
              </a:spcAft>
              <a:defRPr sz="1700" b="0">
                <a:solidFill>
                  <a:srgbClr val="333333"/>
                </a:solidFill>
              </a:defRPr>
            </a:pPr>
            <a:r>
              <a:t>•  Versioned REST API under /api/v1, JSON throughout</a:t>
            </a:r>
          </a:p>
          <a:p>
            <a:pPr>
              <a:spcAft>
                <a:spcPts val="1000"/>
              </a:spcAft>
              <a:defRPr sz="1700" b="0">
                <a:solidFill>
                  <a:srgbClr val="333333"/>
                </a:solidFill>
              </a:defRPr>
            </a:pPr>
            <a:r>
              <a:t>•  PDF generation and notification dispatch run as background tasks, not inline in the request path</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Rounded Rectangle 6"/>
          <p:cNvSpPr/>
          <p:nvPr/>
        </p:nvSpPr>
        <p:spPr>
          <a:xfrm>
            <a:off x="7612360" y="1577320"/>
            <a:ext cx="3931960" cy="104908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50" b="1">
                <a:solidFill>
                  <a:srgbClr val="FFFFFF"/>
                </a:solidFill>
                <a:latin typeface="Calibri"/>
              </a:rPr>
              <a:t>Browser (React SPA)</a:t>
            </a:r>
          </a:p>
        </p:txBody>
      </p:sp>
      <p:cxnSp>
        <p:nvCxnSpPr>
          <p:cNvPr id="8" name="Connector 7"/>
          <p:cNvCxnSpPr/>
          <p:nvPr/>
        </p:nvCxnSpPr>
        <p:spPr>
          <a:xfrm>
            <a:off x="9578340" y="2626400"/>
            <a:ext cx="0" cy="110000"/>
          </a:xfrm>
          <a:prstGeom prst="line">
            <a:avLst/>
          </a:prstGeom>
          <a:ln w="19050">
            <a:solidFill>
              <a:srgbClr val="D8CE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612360" y="2736400"/>
            <a:ext cx="3931960" cy="104908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50" b="1">
                <a:solidFill>
                  <a:srgbClr val="FFFFFF"/>
                </a:solidFill>
                <a:latin typeface="Calibri"/>
              </a:rPr>
              <a:t>REST API — FastAPI (/api/v1)</a:t>
            </a:r>
          </a:p>
        </p:txBody>
      </p:sp>
      <p:cxnSp>
        <p:nvCxnSpPr>
          <p:cNvPr id="10" name="Connector 9"/>
          <p:cNvCxnSpPr/>
          <p:nvPr/>
        </p:nvCxnSpPr>
        <p:spPr>
          <a:xfrm>
            <a:off x="9578340" y="3785480"/>
            <a:ext cx="0" cy="110000"/>
          </a:xfrm>
          <a:prstGeom prst="line">
            <a:avLst/>
          </a:prstGeom>
          <a:ln w="19050">
            <a:solidFill>
              <a:srgbClr val="D8CE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612360" y="3895480"/>
            <a:ext cx="3931960" cy="1049080"/>
          </a:xfrm>
          <a:prstGeom prst="roundRect">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50" b="1">
                <a:solidFill>
                  <a:srgbClr val="FFFFFF"/>
                </a:solidFill>
                <a:latin typeface="Calibri"/>
              </a:rPr>
              <a:t>Router  →  Service  →  Repository</a:t>
            </a:r>
          </a:p>
        </p:txBody>
      </p:sp>
      <p:cxnSp>
        <p:nvCxnSpPr>
          <p:cNvPr id="12" name="Connector 11"/>
          <p:cNvCxnSpPr/>
          <p:nvPr/>
        </p:nvCxnSpPr>
        <p:spPr>
          <a:xfrm>
            <a:off x="9578340" y="4944560"/>
            <a:ext cx="0" cy="110000"/>
          </a:xfrm>
          <a:prstGeom prst="line">
            <a:avLst/>
          </a:prstGeom>
          <a:ln w="19050">
            <a:solidFill>
              <a:srgbClr val="D8CE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12360" y="5054560"/>
            <a:ext cx="3931960" cy="104908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1050" b="1">
                <a:solidFill>
                  <a:srgbClr val="FFFFFF"/>
                </a:solidFill>
                <a:latin typeface="Calibri"/>
              </a:rPr>
              <a:t>PostgreSQL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Database Design</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26 relationally-constrained tables, managed by 10 Alembic migrations, single head, zero drift</a:t>
            </a:r>
          </a:p>
          <a:p>
            <a:pPr>
              <a:spcAft>
                <a:spcPts val="1000"/>
              </a:spcAft>
              <a:defRPr sz="1700" b="0">
                <a:solidFill>
                  <a:srgbClr val="333333"/>
                </a:solidFill>
              </a:defRPr>
            </a:pPr>
            <a:r>
              <a:t>•  Core entities: user, student, teacher, parent, parent_student_link, department, course, room, semester</a:t>
            </a:r>
          </a:p>
          <a:p>
            <a:pPr>
              <a:spcAft>
                <a:spcPts val="1000"/>
              </a:spcAft>
              <a:defRPr sz="1700" b="0">
                <a:solidFill>
                  <a:srgbClr val="333333"/>
                </a:solidFill>
              </a:defRPr>
            </a:pPr>
            <a:r>
              <a:t>•  Academic entities: class_session, enrollment, exam, question, exam_submission, question_grade, result</a:t>
            </a:r>
          </a:p>
          <a:p>
            <a:pPr>
              <a:spcAft>
                <a:spcPts val="1000"/>
              </a:spcAft>
              <a:defRPr sz="1700" b="0">
                <a:solidFill>
                  <a:srgbClr val="333333"/>
                </a:solidFill>
              </a:defRPr>
            </a:pPr>
            <a:r>
              <a:t>•  Operational entities: attendance, fee_structure, invoice, payment, notification, schedule_change_request</a:t>
            </a:r>
          </a:p>
          <a:p>
            <a:pPr>
              <a:spcAft>
                <a:spcPts val="1000"/>
              </a:spcAft>
              <a:defRPr sz="1700" b="0">
                <a:solidFill>
                  <a:srgbClr val="333333"/>
                </a:solidFill>
              </a:defRPr>
            </a:pPr>
            <a:r>
              <a:t>•  All foreign keys enforced at the database level</a:t>
            </a:r>
          </a:p>
          <a:p>
            <a:pPr>
              <a:spcAft>
                <a:spcPts val="1000"/>
              </a:spcAft>
              <a:defRPr sz="1700" b="0">
                <a:solidFill>
                  <a:srgbClr val="333333"/>
                </a:solidFill>
              </a:defRPr>
            </a:pPr>
            <a:r>
              <a:t>•  Reference/catalog data: hard-delete with ON DELETE RESTRICT</a:t>
            </a:r>
          </a:p>
          <a:p>
            <a:pPr>
              <a:spcAft>
                <a:spcPts val="1000"/>
              </a:spcAft>
              <a:defRPr sz="1700" b="0">
                <a:solidFill>
                  <a:srgbClr val="333333"/>
                </a:solidFill>
              </a:defRPr>
            </a:pPr>
            <a:r>
              <a:t>•  Identity records (User/Student/Teacher): deactivation (is_active), never deletion, to preserve history</a:t>
            </a:r>
          </a:p>
          <a:p>
            <a:pPr>
              <a:spcAft>
                <a:spcPts val="1000"/>
              </a:spcAft>
              <a:defRPr sz="1700" b="0">
                <a:solidFill>
                  <a:srgbClr val="333333"/>
                </a:solidFill>
              </a:defRPr>
            </a:pPr>
            <a:r>
              <a:t>•  Derived figures (attendance %, GPA) are never stored as columns — always computed at query time</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ER_Diagram.png"/>
          <p:cNvPicPr>
            <a:picLocks noChangeAspect="1"/>
          </p:cNvPicPr>
          <p:nvPr/>
        </p:nvPicPr>
        <p:blipFill>
          <a:blip r:embed="rId3"/>
          <a:stretch>
            <a:fillRect/>
          </a:stretch>
        </p:blipFill>
        <p:spPr>
          <a:xfrm>
            <a:off x="7953946" y="1577320"/>
            <a:ext cx="3248788" cy="4070320"/>
          </a:xfrm>
          <a:prstGeom prst="rect">
            <a:avLst/>
          </a:prstGeom>
          <a:ln w="9525">
            <a:solidFill>
              <a:srgbClr val="D8CEA8"/>
            </a:solidFill>
          </a:ln>
        </p:spPr>
      </p:pic>
      <p:sp>
        <p:nvSpPr>
          <p:cNvPr id="8" name="TextBox 7"/>
          <p:cNvSpPr txBox="1"/>
          <p:nvPr/>
        </p:nvSpPr>
        <p:spPr>
          <a:xfrm>
            <a:off x="7612360" y="5683640"/>
            <a:ext cx="3931960" cy="210000"/>
          </a:xfrm>
          <a:prstGeom prst="rect">
            <a:avLst/>
          </a:prstGeom>
          <a:noFill/>
        </p:spPr>
        <p:txBody>
          <a:bodyPr wrap="square" lIns="0" rIns="0" tIns="0" bIns="0">
            <a:spAutoFit/>
          </a:bodyPr>
          <a:lstStyle/>
          <a:p>
            <a:pPr algn="ctr"/>
            <a:r>
              <a:rPr sz="900" b="1" i="0">
                <a:solidFill>
                  <a:srgbClr val="0E7C86"/>
                </a:solidFill>
                <a:latin typeface="Calibri"/>
              </a:rPr>
              <a:t>Entity-Relationship Diagram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Backend Architecture</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FastAPI app organized by domain: auth, users, exams, attendance, results, fees, schedule, notifications, reports</a:t>
            </a:r>
          </a:p>
          <a:p>
            <a:pPr>
              <a:spcAft>
                <a:spcPts val="1000"/>
              </a:spcAft>
              <a:defRPr sz="1700" b="0">
                <a:solidFill>
                  <a:srgbClr val="333333"/>
                </a:solidFill>
              </a:defRPr>
            </a:pPr>
            <a:r>
              <a:t>•  Each domain mirrored across models/, schemas/, routers/, services/, repositories/</a:t>
            </a:r>
          </a:p>
          <a:p>
            <a:pPr>
              <a:spcAft>
                <a:spcPts val="1000"/>
              </a:spcAft>
              <a:defRPr sz="1700" b="0">
                <a:solidFill>
                  <a:srgbClr val="333333"/>
                </a:solidFill>
              </a:defRPr>
            </a:pPr>
            <a:r>
              <a:t>•  Every request body validated against a Pydantic schema before reaching business logic</a:t>
            </a:r>
          </a:p>
          <a:p>
            <a:pPr>
              <a:spcAft>
                <a:spcPts val="1000"/>
              </a:spcAft>
              <a:defRPr sz="1700" b="0">
                <a:solidFill>
                  <a:srgbClr val="333333"/>
                </a:solidFill>
              </a:defRPr>
            </a:pPr>
            <a:r>
              <a:t>•  Every response is a Pydantic schema — ORM models are never returned directly from a router</a:t>
            </a:r>
          </a:p>
          <a:p>
            <a:pPr>
              <a:spcAft>
                <a:spcPts val="1000"/>
              </a:spcAft>
              <a:defRPr sz="1700" b="0">
                <a:solidFill>
                  <a:srgbClr val="333333"/>
                </a:solidFill>
              </a:defRPr>
            </a:pPr>
            <a:r>
              <a:t>•  Global exception handlers produce one consistent JSON error shape across the whole API</a:t>
            </a:r>
          </a:p>
          <a:p>
            <a:pPr>
              <a:spcAft>
                <a:spcPts val="1000"/>
              </a:spcAft>
              <a:defRPr sz="1700" b="0">
                <a:solidFill>
                  <a:srgbClr val="333333"/>
                </a:solidFill>
              </a:defRPr>
            </a:pPr>
            <a:r>
              <a:t>•  Structured (JSON) audit logs for result approval, payment recording, account changes, schedule changes</a:t>
            </a:r>
          </a:p>
          <a:p>
            <a:pPr>
              <a:spcAft>
                <a:spcPts val="1000"/>
              </a:spcAft>
              <a:defRPr sz="1700" b="0">
                <a:solidFill>
                  <a:srgbClr val="333333"/>
                </a:solidFill>
              </a:defRPr>
            </a:pPr>
            <a:r>
              <a:t>•  82 REST endpoints across 11 domains</a:t>
            </a:r>
          </a:p>
          <a:p>
            <a:pPr>
              <a:spcAft>
                <a:spcPts val="1000"/>
              </a:spcAft>
              <a:defRPr sz="1700" b="0">
                <a:solidFill>
                  <a:srgbClr val="333333"/>
                </a:solidFill>
              </a:defRPr>
            </a:pPr>
            <a:r>
              <a:t>•  N+1 queries avoided via SQLAlchemy eager-loading (joinedload/selectinload)</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Rounded Rectangle 6"/>
          <p:cNvSpPr/>
          <p:nvPr/>
        </p:nvSpPr>
        <p:spPr>
          <a:xfrm>
            <a:off x="7612360" y="1577320"/>
            <a:ext cx="3931960" cy="4300320"/>
          </a:xfrm>
          <a:prstGeom prst="roundRect">
            <a:avLst/>
          </a:prstGeom>
          <a:solidFill>
            <a:srgbClr val="FFFFFF"/>
          </a:solidFill>
          <a:ln w="12700">
            <a:solidFill>
              <a:srgbClr val="D8CE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2400"/>
              <a:t>📷</a:t>
            </a:r>
          </a:p>
          <a:p>
            <a:pPr algn="ctr"/>
            <a:r>
              <a:rPr sz="1050" b="1">
                <a:solidFill>
                  <a:srgbClr val="0E7C86"/>
                </a:solidFill>
                <a:latin typeface="Calibri"/>
              </a:rPr>
              <a:t>API Documentation (Swagger / OpenAPI) Screenshot</a:t>
            </a:r>
          </a:p>
          <a:p>
            <a:pPr algn="ctr"/>
            <a:r>
              <a:rPr sz="800" i="1">
                <a:solidFill>
                  <a:srgbClr val="5A4A1E"/>
                </a:solidFill>
                <a:latin typeface="Calibri"/>
              </a:rPr>
              <a:t>screenshot placeholder</a:t>
            </a:r>
          </a:p>
        </p:txBody>
      </p:sp>
      <p:sp>
        <p:nvSpPr>
          <p:cNvPr id="8" name="TextBox 7"/>
          <p:cNvSpPr txBox="1"/>
          <p:nvPr/>
        </p:nvSpPr>
        <p:spPr>
          <a:xfrm>
            <a:off x="7612360" y="5913640"/>
            <a:ext cx="3931960" cy="210000"/>
          </a:xfrm>
          <a:prstGeom prst="rect">
            <a:avLst/>
          </a:prstGeom>
          <a:noFill/>
        </p:spPr>
        <p:txBody>
          <a:bodyPr wrap="square" lIns="0" rIns="0" tIns="0" bIns="0">
            <a:spAutoFit/>
          </a:bodyPr>
          <a:lstStyle/>
          <a:p>
            <a:pPr algn="ctr"/>
            <a:r>
              <a:rPr sz="900" b="1" i="0">
                <a:solidFill>
                  <a:srgbClr val="0E7C86"/>
                </a:solidFill>
                <a:latin typeface="Calibri"/>
              </a:rPr>
              <a:t>GET /docs — grouped endpoint list by domain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Frontend Architecture</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React 18 + TypeScript SPA, feature-sliced structure</a:t>
            </a:r>
          </a:p>
          <a:p>
            <a:pPr>
              <a:spcAft>
                <a:spcPts val="1000"/>
              </a:spcAft>
              <a:defRPr sz="1700" b="0">
                <a:solidFill>
                  <a:srgbClr val="333333"/>
                </a:solidFill>
              </a:defRPr>
            </a:pPr>
            <a:r>
              <a:t>•  src/pages — one page per screen, matches the requirement doc's screen list 1:1</a:t>
            </a:r>
          </a:p>
          <a:p>
            <a:pPr>
              <a:spcAft>
                <a:spcPts val="1000"/>
              </a:spcAft>
              <a:defRPr sz="1700" b="0">
                <a:solidFill>
                  <a:srgbClr val="333333"/>
                </a:solidFill>
              </a:defRPr>
            </a:pPr>
            <a:r>
              <a:t>•  src/features — each API domain wrapped in typed React Query hooks (useExams, useAttendance, ...)</a:t>
            </a:r>
          </a:p>
          <a:p>
            <a:pPr>
              <a:spcAft>
                <a:spcPts val="1000"/>
              </a:spcAft>
              <a:defRPr sz="1700" b="0">
                <a:solidFill>
                  <a:srgbClr val="333333"/>
                </a:solidFill>
              </a:defRPr>
            </a:pPr>
            <a:r>
              <a:t>•  Components call hooks only — never fetch/axios directly</a:t>
            </a:r>
          </a:p>
          <a:p>
            <a:pPr>
              <a:spcAft>
                <a:spcPts val="1000"/>
              </a:spcAft>
              <a:defRPr sz="1700" b="0">
                <a:solidFill>
                  <a:srgbClr val="333333"/>
                </a:solidFill>
              </a:defRPr>
            </a:pPr>
            <a:r>
              <a:t>•  src/auth — centralized token attachment, silent refresh, and route guarding</a:t>
            </a:r>
          </a:p>
          <a:p>
            <a:pPr>
              <a:spcAft>
                <a:spcPts val="1000"/>
              </a:spcAft>
              <a:defRPr sz="1700" b="0">
                <a:solidFill>
                  <a:srgbClr val="333333"/>
                </a:solidFill>
              </a:defRPr>
            </a:pPr>
            <a:r>
              <a:t>•  Shared role-based dashboard shell — one Dashboard component, role-specific widgets composed conditionally</a:t>
            </a:r>
          </a:p>
          <a:p>
            <a:pPr>
              <a:spcAft>
                <a:spcPts val="1000"/>
              </a:spcAft>
              <a:defRPr sz="1700" b="0">
                <a:solidFill>
                  <a:srgbClr val="333333"/>
                </a:solidFill>
              </a:defRPr>
            </a:pPr>
            <a:r>
              <a:t>•  Client-side RBAC hiding is a UX convenience only — never a substitute for server enforcement</a:t>
            </a:r>
          </a:p>
          <a:p>
            <a:pPr>
              <a:spcAft>
                <a:spcPts val="1000"/>
              </a:spcAft>
              <a:defRPr sz="1700" b="0">
                <a:solidFill>
                  <a:srgbClr val="333333"/>
                </a:solidFill>
              </a:defRPr>
            </a:pPr>
            <a:r>
              <a:t>•  TailwindCSS for styling, lucide-react icons, shared UI primitives (Card, Table, Modal, Toast, Pagination)</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Rounded Rectangle 6"/>
          <p:cNvSpPr/>
          <p:nvPr/>
        </p:nvSpPr>
        <p:spPr>
          <a:xfrm>
            <a:off x="7612360" y="1577320"/>
            <a:ext cx="3931960" cy="4526320"/>
          </a:xfrm>
          <a:prstGeom prst="roundRect">
            <a:avLst/>
          </a:prstGeom>
          <a:solidFill>
            <a:srgbClr val="0B162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0000" rIns="80000" tIns="120000"/>
          <a:lstStyle/>
          <a:p>
            <a:pPr algn="ctr"/>
            <a:r>
              <a:rPr sz="1100" b="1">
                <a:solidFill>
                  <a:srgbClr val="4CD97B"/>
                </a:solidFill>
                <a:latin typeface="Consolas"/>
              </a:rPr>
              <a:t>📁 frontend/src/</a:t>
            </a:r>
          </a:p>
          <a:p>
            <a:r>
              <a:rPr sz="950" b="0">
                <a:solidFill>
                  <a:srgbClr val="FFFFFF"/>
                </a:solidFill>
                <a:latin typeface="Consolas"/>
              </a:rPr>
              <a:t>    └─ pages/          # one page per screen</a:t>
            </a:r>
          </a:p>
          <a:p>
            <a:r>
              <a:rPr sz="950" b="0">
                <a:solidFill>
                  <a:srgbClr val="FFFFFF"/>
                </a:solidFill>
                <a:latin typeface="Consolas"/>
              </a:rPr>
              <a:t>    └─ features/       # useExams, useAttendance ...</a:t>
            </a:r>
          </a:p>
          <a:p>
            <a:r>
              <a:rPr sz="950" b="0">
                <a:solidFill>
                  <a:srgbClr val="FFFFFF"/>
                </a:solidFill>
                <a:latin typeface="Consolas"/>
              </a:rPr>
              <a:t>    └─ components/     # Card, Table, Modal, Toast</a:t>
            </a:r>
          </a:p>
          <a:p>
            <a:r>
              <a:rPr sz="950" b="0">
                <a:solidFill>
                  <a:srgbClr val="FFFFFF"/>
                </a:solidFill>
                <a:latin typeface="Consolas"/>
              </a:rPr>
              <a:t>    └─ auth/           # token + route guarding</a:t>
            </a:r>
          </a:p>
          <a:p>
            <a:r>
              <a:rPr sz="1100" b="1">
                <a:solidFill>
                  <a:srgbClr val="4CD97B"/>
                </a:solidFill>
                <a:latin typeface="Consolas"/>
              </a:rPr>
              <a:t>📁 backend/app/</a:t>
            </a:r>
          </a:p>
          <a:p>
            <a:r>
              <a:rPr sz="950" b="0">
                <a:solidFill>
                  <a:srgbClr val="FFFFFF"/>
                </a:solidFill>
                <a:latin typeface="Consolas"/>
              </a:rPr>
              <a:t>    └─ routers/        # request / response only</a:t>
            </a:r>
          </a:p>
          <a:p>
            <a:r>
              <a:rPr sz="950" b="0">
                <a:solidFill>
                  <a:srgbClr val="FFFFFF"/>
                </a:solidFill>
                <a:latin typeface="Consolas"/>
              </a:rPr>
              <a:t>    └─ services/       # business rules</a:t>
            </a:r>
          </a:p>
          <a:p>
            <a:r>
              <a:rPr sz="950" b="0">
                <a:solidFill>
                  <a:srgbClr val="FFFFFF"/>
                </a:solidFill>
                <a:latin typeface="Consolas"/>
              </a:rPr>
              <a:t>    └─ repositories/   # SQLAlchemy queries</a:t>
            </a:r>
          </a:p>
          <a:p>
            <a:r>
              <a:rPr sz="950" b="0">
                <a:solidFill>
                  <a:srgbClr val="FFFFFF"/>
                </a:solidFill>
                <a:latin typeface="Consolas"/>
              </a:rPr>
              <a:t>    └─ models/  schemas/  notifications/  pdf/</a:t>
            </a:r>
          </a:p>
        </p:txBody>
      </p:sp>
      <p:sp>
        <p:nvSpPr>
          <p:cNvPr id="8" name="TextBox 7"/>
          <p:cNvSpPr txBox="1"/>
          <p:nvPr/>
        </p:nvSpPr>
        <p:spPr>
          <a:xfrm>
            <a:off x="7612360" y="6143640"/>
            <a:ext cx="3931960" cy="210000"/>
          </a:xfrm>
          <a:prstGeom prst="rect">
            <a:avLst/>
          </a:prstGeom>
          <a:noFill/>
        </p:spPr>
        <p:txBody>
          <a:bodyPr wrap="square" lIns="0" rIns="0" tIns="0" bIns="0">
            <a:spAutoFit/>
          </a:bodyPr>
          <a:lstStyle/>
          <a:p>
            <a:pPr algn="ctr"/>
            <a:r>
              <a:rPr sz="950" b="1" i="0">
                <a:solidFill>
                  <a:srgbClr val="0E7C86"/>
                </a:solidFill>
                <a:latin typeface="Calibri"/>
              </a:rPr>
              <a:t>Project Folder Structure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Authentication &amp; RBAC</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JWT-based authentication — short-lived access tokens, refresh tokens rotated on use</a:t>
            </a:r>
          </a:p>
          <a:p>
            <a:pPr>
              <a:spcAft>
                <a:spcPts val="1000"/>
              </a:spcAft>
              <a:defRPr sz="1700" b="0">
                <a:solidFill>
                  <a:srgbClr val="333333"/>
                </a:solidFill>
              </a:defRPr>
            </a:pPr>
            <a:r>
              <a:t>•  Passwords hashed with a strong adaptive algorithm (bcrypt) — never stored or logged in plaintext</a:t>
            </a:r>
          </a:p>
          <a:p>
            <a:pPr>
              <a:spcAft>
                <a:spcPts val="1000"/>
              </a:spcAft>
              <a:defRPr sz="1700" b="0">
                <a:solidFill>
                  <a:srgbClr val="333333"/>
                </a:solidFill>
              </a:defRPr>
            </a:pPr>
            <a:r>
              <a:t>•  Four roles: Student, Teacher, Parent, Admin — each with distinct, server-enforced permissions</a:t>
            </a:r>
          </a:p>
          <a:p>
            <a:pPr>
              <a:spcAft>
                <a:spcPts val="1000"/>
              </a:spcAft>
              <a:defRPr sz="1700" b="0">
                <a:solidFill>
                  <a:srgbClr val="333333"/>
                </a:solidFill>
              </a:defRPr>
            </a:pPr>
            <a:r>
              <a:t>•  Role checks applied via dependency injection on every protected route</a:t>
            </a:r>
          </a:p>
          <a:p>
            <a:pPr>
              <a:spcAft>
                <a:spcPts val="1000"/>
              </a:spcAft>
              <a:defRPr sz="1700" b="0">
                <a:solidFill>
                  <a:srgbClr val="333333"/>
                </a:solidFill>
              </a:defRPr>
            </a:pPr>
            <a:r>
              <a:t>•  Ownership checks go further than role checks: a Parent must be linked to the specific student requested</a:t>
            </a:r>
          </a:p>
          <a:p>
            <a:pPr>
              <a:spcAft>
                <a:spcPts val="1000"/>
              </a:spcAft>
              <a:defRPr sz="1700" b="0">
                <a:solidFill>
                  <a:srgbClr val="333333"/>
                </a:solidFill>
              </a:defRPr>
            </a:pPr>
            <a:r>
              <a:t>•  Example: GET /exams?student_id — Parent branch verifies parent_student_link before returning data</a:t>
            </a:r>
          </a:p>
          <a:p>
            <a:pPr>
              <a:spcAft>
                <a:spcPts val="1000"/>
              </a:spcAft>
              <a:defRPr sz="1700" b="0">
                <a:solidFill>
                  <a:srgbClr val="333333"/>
                </a:solidFill>
              </a:defRPr>
            </a:pPr>
            <a:r>
              <a:t>•  A deactivated user (is_active = false) fails authorization immediately, even with a valid token</a:t>
            </a:r>
          </a:p>
          <a:p>
            <a:pPr>
              <a:spcAft>
                <a:spcPts val="1000"/>
              </a:spcAft>
              <a:defRPr sz="1700" b="0">
                <a:solidFill>
                  <a:srgbClr val="333333"/>
                </a:solidFill>
              </a:defRPr>
            </a:pPr>
            <a:r>
              <a:t>•  Rate limiting applied to POST /auth/login to mitigate credential-stuffing / brute-force attempts</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01_Login_Page.jpg"/>
          <p:cNvPicPr>
            <a:picLocks noChangeAspect="1"/>
          </p:cNvPicPr>
          <p:nvPr/>
        </p:nvPicPr>
        <p:blipFill>
          <a:blip r:embed="rId3"/>
          <a:stretch>
            <a:fillRect/>
          </a:stretch>
        </p:blipFill>
        <p:spPr>
          <a:xfrm>
            <a:off x="8636374" y="1577320"/>
            <a:ext cx="1883932" cy="1804846"/>
          </a:xfrm>
          <a:prstGeom prst="rect">
            <a:avLst/>
          </a:prstGeom>
          <a:ln w="9525">
            <a:solidFill>
              <a:srgbClr val="D8CEA8"/>
            </a:solidFill>
          </a:ln>
        </p:spPr>
      </p:pic>
      <p:sp>
        <p:nvSpPr>
          <p:cNvPr id="8" name="TextBox 7"/>
          <p:cNvSpPr txBox="1"/>
          <p:nvPr/>
        </p:nvSpPr>
        <p:spPr>
          <a:xfrm>
            <a:off x="7612360" y="3418166"/>
            <a:ext cx="3931960" cy="210000"/>
          </a:xfrm>
          <a:prstGeom prst="rect">
            <a:avLst/>
          </a:prstGeom>
          <a:noFill/>
        </p:spPr>
        <p:txBody>
          <a:bodyPr wrap="square" lIns="0" rIns="0" tIns="0" bIns="0">
            <a:spAutoFit/>
          </a:bodyPr>
          <a:lstStyle/>
          <a:p>
            <a:pPr algn="ctr"/>
            <a:r>
              <a:rPr sz="900" b="1" i="0">
                <a:solidFill>
                  <a:srgbClr val="0E7C86"/>
                </a:solidFill>
                <a:latin typeface="Calibri"/>
              </a:rPr>
              <a:t>Login Screen Screenshot</a:t>
            </a:r>
          </a:p>
        </p:txBody>
      </p:sp>
      <p:sp>
        <p:nvSpPr>
          <p:cNvPr id="9" name="TextBox 8"/>
          <p:cNvSpPr txBox="1"/>
          <p:nvPr/>
        </p:nvSpPr>
        <p:spPr>
          <a:xfrm>
            <a:off x="7612360" y="3768166"/>
            <a:ext cx="3931960" cy="220000"/>
          </a:xfrm>
          <a:prstGeom prst="rect">
            <a:avLst/>
          </a:prstGeom>
          <a:noFill/>
        </p:spPr>
        <p:txBody>
          <a:bodyPr wrap="square" anchor="ctr" lIns="0" rIns="0" tIns="0" bIns="0">
            <a:spAutoFit/>
          </a:bodyPr>
          <a:lstStyle/>
          <a:p>
            <a:pPr algn="ctr"/>
            <a:r>
              <a:rPr sz="1050" b="1">
                <a:solidFill>
                  <a:srgbClr val="0E7C86"/>
                </a:solidFill>
                <a:latin typeface="Calibri"/>
              </a:rPr>
              <a:t>Role-Based Access Control Flow</a:t>
            </a:r>
          </a:p>
        </p:txBody>
      </p:sp>
      <p:sp>
        <p:nvSpPr>
          <p:cNvPr id="10" name="Rounded Rectangle 9"/>
          <p:cNvSpPr/>
          <p:nvPr/>
        </p:nvSpPr>
        <p:spPr>
          <a:xfrm>
            <a:off x="7612360" y="4068166"/>
            <a:ext cx="746392" cy="2035473"/>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850" b="1">
                <a:solidFill>
                  <a:srgbClr val="FFFFFF"/>
                </a:solidFill>
                <a:latin typeface="Calibri"/>
              </a:rPr>
              <a:t>Login</a:t>
            </a:r>
          </a:p>
        </p:txBody>
      </p:sp>
      <p:cxnSp>
        <p:nvCxnSpPr>
          <p:cNvPr id="11" name="Connector 10"/>
          <p:cNvCxnSpPr/>
          <p:nvPr/>
        </p:nvCxnSpPr>
        <p:spPr>
          <a:xfrm>
            <a:off x="8358752" y="5085902"/>
            <a:ext cx="50000" cy="0"/>
          </a:xfrm>
          <a:prstGeom prst="line">
            <a:avLst/>
          </a:prstGeom>
          <a:ln w="15875">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408752" y="4068166"/>
            <a:ext cx="746392" cy="2035473"/>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850" b="1">
                <a:solidFill>
                  <a:srgbClr val="FFFFFF"/>
                </a:solidFill>
                <a:latin typeface="Calibri"/>
              </a:rPr>
              <a:t>JWT Issued</a:t>
            </a:r>
          </a:p>
        </p:txBody>
      </p:sp>
      <p:cxnSp>
        <p:nvCxnSpPr>
          <p:cNvPr id="13" name="Connector 12"/>
          <p:cNvCxnSpPr/>
          <p:nvPr/>
        </p:nvCxnSpPr>
        <p:spPr>
          <a:xfrm>
            <a:off x="9155144" y="5085902"/>
            <a:ext cx="50000" cy="0"/>
          </a:xfrm>
          <a:prstGeom prst="line">
            <a:avLst/>
          </a:prstGeom>
          <a:ln w="15875">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205144" y="4068166"/>
            <a:ext cx="746392" cy="2035473"/>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850" b="1">
                <a:solidFill>
                  <a:srgbClr val="FFFFFF"/>
                </a:solidFill>
                <a:latin typeface="Calibri"/>
              </a:rPr>
              <a:t>Role Check</a:t>
            </a:r>
          </a:p>
        </p:txBody>
      </p:sp>
      <p:cxnSp>
        <p:nvCxnSpPr>
          <p:cNvPr id="15" name="Connector 14"/>
          <p:cNvCxnSpPr/>
          <p:nvPr/>
        </p:nvCxnSpPr>
        <p:spPr>
          <a:xfrm>
            <a:off x="9951536" y="5085902"/>
            <a:ext cx="50000" cy="0"/>
          </a:xfrm>
          <a:prstGeom prst="line">
            <a:avLst/>
          </a:prstGeom>
          <a:ln w="15875">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01536" y="4068166"/>
            <a:ext cx="746392" cy="2035473"/>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850" b="1">
                <a:solidFill>
                  <a:srgbClr val="FFFFFF"/>
                </a:solidFill>
                <a:latin typeface="Calibri"/>
              </a:rPr>
              <a:t>Ownership Check</a:t>
            </a:r>
          </a:p>
        </p:txBody>
      </p:sp>
      <p:cxnSp>
        <p:nvCxnSpPr>
          <p:cNvPr id="17" name="Connector 16"/>
          <p:cNvCxnSpPr/>
          <p:nvPr/>
        </p:nvCxnSpPr>
        <p:spPr>
          <a:xfrm>
            <a:off x="10747928" y="5085902"/>
            <a:ext cx="50000" cy="0"/>
          </a:xfrm>
          <a:prstGeom prst="line">
            <a:avLst/>
          </a:prstGeom>
          <a:ln w="15875">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797928" y="4068166"/>
            <a:ext cx="746392" cy="2035473"/>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850" b="1">
                <a:solidFill>
                  <a:srgbClr val="FFFFFF"/>
                </a:solidFill>
                <a:latin typeface="Calibri"/>
              </a:rPr>
              <a:t>200 / 403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Major Features</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Class scheduling with conflict detection and a Teacher-request / Admin-approval change workflow</a:t>
            </a:r>
          </a:p>
          <a:p>
            <a:pPr>
              <a:spcAft>
                <a:spcPts val="1000"/>
              </a:spcAft>
              <a:defRPr sz="1700" b="0">
                <a:solidFill>
                  <a:srgbClr val="333333"/>
                </a:solidFill>
              </a:defRPr>
            </a:pPr>
            <a:r>
              <a:t>•  Attendance tracking with live-computed percentages and automatic low-attendance alerts</a:t>
            </a:r>
          </a:p>
          <a:p>
            <a:pPr>
              <a:spcAft>
                <a:spcPts val="1000"/>
              </a:spcAft>
              <a:defRPr sz="1700" b="0">
                <a:solidFill>
                  <a:srgbClr val="333333"/>
                </a:solidFill>
              </a:defRPr>
            </a:pPr>
            <a:r>
              <a:t>•  Timed exam-taking across four question types (MCQ, short answer, descriptive, coding)</a:t>
            </a:r>
          </a:p>
          <a:p>
            <a:pPr>
              <a:spcAft>
                <a:spcPts val="1000"/>
              </a:spcAft>
              <a:defRPr sz="1700" b="0">
                <a:solidFill>
                  <a:srgbClr val="333333"/>
                </a:solidFill>
              </a:defRPr>
            </a:pPr>
            <a:r>
              <a:t>•  Per-question grading interface for non-auto-gradable question types</a:t>
            </a:r>
          </a:p>
          <a:p>
            <a:pPr>
              <a:spcAft>
                <a:spcPts val="1000"/>
              </a:spcAft>
              <a:defRPr sz="1700" b="0">
                <a:solidFill>
                  <a:srgbClr val="333333"/>
                </a:solidFill>
              </a:defRPr>
            </a:pPr>
            <a:r>
              <a:t>•  Result workflow: submitted → approved/rejected → published, with credit-weighted GPA</a:t>
            </a:r>
          </a:p>
          <a:p>
            <a:pPr>
              <a:spcAft>
                <a:spcPts val="1000"/>
              </a:spcAft>
              <a:defRPr sz="1700" b="0">
                <a:solidFill>
                  <a:srgbClr val="333333"/>
                </a:solidFill>
              </a:defRPr>
            </a:pPr>
            <a:r>
              <a:t>•  PDF transcript generation</a:t>
            </a:r>
          </a:p>
          <a:p>
            <a:pPr>
              <a:spcAft>
                <a:spcPts val="1000"/>
              </a:spcAft>
              <a:defRPr sz="1700" b="0">
                <a:solidFill>
                  <a:srgbClr val="333333"/>
                </a:solidFill>
              </a:defRPr>
            </a:pPr>
            <a:r>
              <a:t>•  Fee module: auto-generated invoices, payment tracking, PDF invoice/receipt</a:t>
            </a:r>
          </a:p>
          <a:p>
            <a:pPr>
              <a:spcAft>
                <a:spcPts val="1000"/>
              </a:spcAft>
              <a:defRPr sz="1700" b="0">
                <a:solidFill>
                  <a:srgbClr val="333333"/>
                </a:solidFill>
              </a:defRPr>
            </a:pPr>
            <a:r>
              <a:t>•  Event-driven notifications reaching Students and their linked Parents</a:t>
            </a:r>
          </a:p>
          <a:p>
            <a:pPr>
              <a:spcAft>
                <a:spcPts val="1000"/>
              </a:spcAft>
              <a:defRPr sz="1700" b="0">
                <a:solidFill>
                  <a:srgbClr val="333333"/>
                </a:solidFill>
              </a:defRPr>
            </a:pPr>
            <a:r>
              <a:t>•  Role-appropriate dashboards for all four roles</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21_Teacher_Mark_Attendance.jpg"/>
          <p:cNvPicPr>
            <a:picLocks noChangeAspect="1"/>
          </p:cNvPicPr>
          <p:nvPr/>
        </p:nvPicPr>
        <p:blipFill>
          <a:blip r:embed="rId3"/>
          <a:stretch>
            <a:fillRect/>
          </a:stretch>
        </p:blipFill>
        <p:spPr>
          <a:xfrm>
            <a:off x="7718390" y="1577320"/>
            <a:ext cx="3719900" cy="1209440"/>
          </a:xfrm>
          <a:prstGeom prst="rect">
            <a:avLst/>
          </a:prstGeom>
          <a:ln w="9525">
            <a:solidFill>
              <a:srgbClr val="D8CEA8"/>
            </a:solidFill>
          </a:ln>
        </p:spPr>
      </p:pic>
      <p:sp>
        <p:nvSpPr>
          <p:cNvPr id="8" name="TextBox 7"/>
          <p:cNvSpPr txBox="1"/>
          <p:nvPr/>
        </p:nvSpPr>
        <p:spPr>
          <a:xfrm>
            <a:off x="7612360" y="2822760"/>
            <a:ext cx="3931960" cy="210000"/>
          </a:xfrm>
          <a:prstGeom prst="rect">
            <a:avLst/>
          </a:prstGeom>
          <a:noFill/>
        </p:spPr>
        <p:txBody>
          <a:bodyPr wrap="square" lIns="0" rIns="0" tIns="0" bIns="0">
            <a:spAutoFit/>
          </a:bodyPr>
          <a:lstStyle/>
          <a:p>
            <a:pPr algn="ctr"/>
            <a:r>
              <a:rPr sz="900" b="1" i="0">
                <a:solidFill>
                  <a:srgbClr val="0E7C86"/>
                </a:solidFill>
                <a:latin typeface="Calibri"/>
              </a:rPr>
              <a:t>Attendance Module Screenshot</a:t>
            </a:r>
          </a:p>
        </p:txBody>
      </p:sp>
      <p:pic>
        <p:nvPicPr>
          <p:cNvPr id="9" name="Picture 8" descr="09_Admin_Timetable.jpg"/>
          <p:cNvPicPr>
            <a:picLocks noChangeAspect="1"/>
          </p:cNvPicPr>
          <p:nvPr/>
        </p:nvPicPr>
        <p:blipFill>
          <a:blip r:embed="rId4"/>
          <a:stretch>
            <a:fillRect/>
          </a:stretch>
        </p:blipFill>
        <p:spPr>
          <a:xfrm>
            <a:off x="8322760" y="3122760"/>
            <a:ext cx="2511159" cy="1209440"/>
          </a:xfrm>
          <a:prstGeom prst="rect">
            <a:avLst/>
          </a:prstGeom>
          <a:ln w="9525">
            <a:solidFill>
              <a:srgbClr val="D8CEA8"/>
            </a:solidFill>
          </a:ln>
        </p:spPr>
      </p:pic>
      <p:sp>
        <p:nvSpPr>
          <p:cNvPr id="10" name="TextBox 9"/>
          <p:cNvSpPr txBox="1"/>
          <p:nvPr/>
        </p:nvSpPr>
        <p:spPr>
          <a:xfrm>
            <a:off x="7612360" y="4368200"/>
            <a:ext cx="3931960" cy="210000"/>
          </a:xfrm>
          <a:prstGeom prst="rect">
            <a:avLst/>
          </a:prstGeom>
          <a:noFill/>
        </p:spPr>
        <p:txBody>
          <a:bodyPr wrap="square" lIns="0" rIns="0" tIns="0" bIns="0">
            <a:spAutoFit/>
          </a:bodyPr>
          <a:lstStyle/>
          <a:p>
            <a:pPr algn="ctr"/>
            <a:r>
              <a:rPr sz="900" b="1" i="0">
                <a:solidFill>
                  <a:srgbClr val="0E7C86"/>
                </a:solidFill>
                <a:latin typeface="Calibri"/>
              </a:rPr>
              <a:t>Schedule Management Screenshot</a:t>
            </a:r>
          </a:p>
        </p:txBody>
      </p:sp>
      <p:pic>
        <p:nvPicPr>
          <p:cNvPr id="11" name="Picture 10" descr="17_Admin_Notifications.jpg"/>
          <p:cNvPicPr>
            <a:picLocks noChangeAspect="1"/>
          </p:cNvPicPr>
          <p:nvPr/>
        </p:nvPicPr>
        <p:blipFill>
          <a:blip r:embed="rId5"/>
          <a:stretch>
            <a:fillRect/>
          </a:stretch>
        </p:blipFill>
        <p:spPr>
          <a:xfrm>
            <a:off x="7612360" y="5008638"/>
            <a:ext cx="3931960" cy="528564"/>
          </a:xfrm>
          <a:prstGeom prst="rect">
            <a:avLst/>
          </a:prstGeom>
          <a:ln w="9525">
            <a:solidFill>
              <a:srgbClr val="D8CEA8"/>
            </a:solidFill>
          </a:ln>
        </p:spPr>
      </p:pic>
      <p:sp>
        <p:nvSpPr>
          <p:cNvPr id="12" name="TextBox 11"/>
          <p:cNvSpPr txBox="1"/>
          <p:nvPr/>
        </p:nvSpPr>
        <p:spPr>
          <a:xfrm>
            <a:off x="7612360" y="5913640"/>
            <a:ext cx="3931960" cy="210000"/>
          </a:xfrm>
          <a:prstGeom prst="rect">
            <a:avLst/>
          </a:prstGeom>
          <a:noFill/>
        </p:spPr>
        <p:txBody>
          <a:bodyPr wrap="square" lIns="0" rIns="0" tIns="0" bIns="0">
            <a:spAutoFit/>
          </a:bodyPr>
          <a:lstStyle/>
          <a:p>
            <a:pPr algn="ctr"/>
            <a:r>
              <a:rPr sz="900" b="1" i="0">
                <a:solidFill>
                  <a:srgbClr val="0E7C86"/>
                </a:solidFill>
                <a:latin typeface="Calibri"/>
              </a:rPr>
              <a:t>Notification Center Screenshot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none" lIns="0" tIns="0">
            <a:spAutoFit/>
          </a:bodyPr>
          <a:lstStyle/>
          <a:p>
            <a:r>
              <a:rPr sz="3000" b="1">
                <a:solidFill>
                  <a:srgbClr val="FFFFFF"/>
                </a:solidFill>
                <a:latin typeface="Calibri"/>
              </a:rPr>
              <a:t>Typical Academic Workflow</a:t>
            </a:r>
          </a:p>
        </p:txBody>
      </p:sp>
      <p:sp>
        <p:nvSpPr>
          <p:cNvPr id="5" name="TextBox 4"/>
          <p:cNvSpPr txBox="1"/>
          <p:nvPr/>
        </p:nvSpPr>
        <p:spPr>
          <a:xfrm>
            <a:off x="502920" y="1417320"/>
            <a:ext cx="11185855" cy="260000"/>
          </a:xfrm>
          <a:prstGeom prst="rect">
            <a:avLst/>
          </a:prstGeom>
          <a:noFill/>
        </p:spPr>
        <p:txBody>
          <a:bodyPr wrap="square" anchor="ctr" lIns="0" rIns="0" tIns="0" bIns="0">
            <a:spAutoFit/>
          </a:bodyPr>
          <a:lstStyle/>
          <a:p>
            <a:pPr algn="ctr"/>
            <a:r>
              <a:rPr sz="1200" b="1">
                <a:solidFill>
                  <a:srgbClr val="0E7C86"/>
                </a:solidFill>
                <a:latin typeface="Calibri"/>
              </a:rPr>
              <a:t>One record, one workflow — from semester creation to parent notification</a:t>
            </a:r>
          </a:p>
        </p:txBody>
      </p:sp>
      <p:sp>
        <p:nvSpPr>
          <p:cNvPr id="6" name="Rounded Rectangle 5"/>
          <p:cNvSpPr/>
          <p:nvPr/>
        </p:nvSpPr>
        <p:spPr>
          <a:xfrm>
            <a:off x="502920" y="2367320"/>
            <a:ext cx="1336981" cy="165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FFFFFF"/>
                </a:solidFill>
                <a:latin typeface="Calibri"/>
              </a:rPr>
              <a:t>Admin</a:t>
            </a:r>
          </a:p>
        </p:txBody>
      </p:sp>
      <p:cxnSp>
        <p:nvCxnSpPr>
          <p:cNvPr id="7" name="Connector 6"/>
          <p:cNvCxnSpPr/>
          <p:nvPr/>
        </p:nvCxnSpPr>
        <p:spPr>
          <a:xfrm>
            <a:off x="1839901" y="3192320"/>
            <a:ext cx="70000" cy="0"/>
          </a:xfrm>
          <a:prstGeom prst="line">
            <a:avLst/>
          </a:prstGeom>
          <a:ln w="19050">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909901" y="2367320"/>
            <a:ext cx="1336981" cy="165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FFFFFF"/>
                </a:solidFill>
                <a:latin typeface="Calibri"/>
              </a:rPr>
              <a:t>Creates
Semester</a:t>
            </a:r>
          </a:p>
        </p:txBody>
      </p:sp>
      <p:cxnSp>
        <p:nvCxnSpPr>
          <p:cNvPr id="9" name="Connector 8"/>
          <p:cNvCxnSpPr/>
          <p:nvPr/>
        </p:nvCxnSpPr>
        <p:spPr>
          <a:xfrm>
            <a:off x="3246882" y="3192320"/>
            <a:ext cx="70000" cy="0"/>
          </a:xfrm>
          <a:prstGeom prst="line">
            <a:avLst/>
          </a:prstGeom>
          <a:ln w="19050">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16882" y="2367320"/>
            <a:ext cx="1336981" cy="16500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FFFFFF"/>
                </a:solidFill>
                <a:latin typeface="Calibri"/>
              </a:rPr>
              <a:t>Teacher Creates
Exam</a:t>
            </a:r>
          </a:p>
        </p:txBody>
      </p:sp>
      <p:cxnSp>
        <p:nvCxnSpPr>
          <p:cNvPr id="11" name="Connector 10"/>
          <p:cNvCxnSpPr/>
          <p:nvPr/>
        </p:nvCxnSpPr>
        <p:spPr>
          <a:xfrm>
            <a:off x="4653863" y="3192320"/>
            <a:ext cx="70000" cy="0"/>
          </a:xfrm>
          <a:prstGeom prst="line">
            <a:avLst/>
          </a:prstGeom>
          <a:ln w="19050">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23863" y="2367320"/>
            <a:ext cx="1336981" cy="1650000"/>
          </a:xfrm>
          <a:prstGeom prst="roundRect">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FFFFFF"/>
                </a:solidFill>
                <a:latin typeface="Calibri"/>
              </a:rPr>
              <a:t>Student Takes
Exam</a:t>
            </a:r>
          </a:p>
        </p:txBody>
      </p:sp>
      <p:cxnSp>
        <p:nvCxnSpPr>
          <p:cNvPr id="13" name="Connector 12"/>
          <p:cNvCxnSpPr/>
          <p:nvPr/>
        </p:nvCxnSpPr>
        <p:spPr>
          <a:xfrm>
            <a:off x="6060844" y="3192320"/>
            <a:ext cx="70000" cy="0"/>
          </a:xfrm>
          <a:prstGeom prst="line">
            <a:avLst/>
          </a:prstGeom>
          <a:ln w="19050">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30844" y="2367320"/>
            <a:ext cx="1336981" cy="16500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FFFFFF"/>
                </a:solidFill>
                <a:latin typeface="Calibri"/>
              </a:rPr>
              <a:t>Teacher
Grades</a:t>
            </a:r>
          </a:p>
        </p:txBody>
      </p:sp>
      <p:cxnSp>
        <p:nvCxnSpPr>
          <p:cNvPr id="15" name="Connector 14"/>
          <p:cNvCxnSpPr/>
          <p:nvPr/>
        </p:nvCxnSpPr>
        <p:spPr>
          <a:xfrm>
            <a:off x="7467825" y="3192320"/>
            <a:ext cx="70000" cy="0"/>
          </a:xfrm>
          <a:prstGeom prst="line">
            <a:avLst/>
          </a:prstGeom>
          <a:ln w="19050">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37825" y="2367320"/>
            <a:ext cx="1336981" cy="1650000"/>
          </a:xfrm>
          <a:prstGeom prst="roundRect">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FFFFFF"/>
                </a:solidFill>
                <a:latin typeface="Calibri"/>
              </a:rPr>
              <a:t>Admin Approves
Results</a:t>
            </a:r>
          </a:p>
        </p:txBody>
      </p:sp>
      <p:cxnSp>
        <p:nvCxnSpPr>
          <p:cNvPr id="17" name="Connector 16"/>
          <p:cNvCxnSpPr/>
          <p:nvPr/>
        </p:nvCxnSpPr>
        <p:spPr>
          <a:xfrm>
            <a:off x="8874806" y="3192320"/>
            <a:ext cx="70000" cy="0"/>
          </a:xfrm>
          <a:prstGeom prst="line">
            <a:avLst/>
          </a:prstGeom>
          <a:ln w="19050">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44806" y="2367320"/>
            <a:ext cx="1336981" cy="1650000"/>
          </a:xfrm>
          <a:prstGeom prst="roundRect">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FFFFFF"/>
                </a:solidFill>
                <a:latin typeface="Calibri"/>
              </a:rPr>
              <a:t>Student Views
Results</a:t>
            </a:r>
          </a:p>
        </p:txBody>
      </p:sp>
      <p:cxnSp>
        <p:nvCxnSpPr>
          <p:cNvPr id="19" name="Connector 18"/>
          <p:cNvCxnSpPr/>
          <p:nvPr/>
        </p:nvCxnSpPr>
        <p:spPr>
          <a:xfrm>
            <a:off x="10281787" y="3192320"/>
            <a:ext cx="70000" cy="0"/>
          </a:xfrm>
          <a:prstGeom prst="line">
            <a:avLst/>
          </a:prstGeom>
          <a:ln w="19050">
            <a:solidFill>
              <a:srgbClr val="5A4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351787" y="2367320"/>
            <a:ext cx="1336981" cy="1650000"/>
          </a:xfrm>
          <a:prstGeom prst="roundRect">
            <a:avLst/>
          </a:prstGeom>
          <a:solidFill>
            <a:srgbClr val="D8C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000" bIns="18000"/>
          <a:lstStyle/>
          <a:p>
            <a:pPr algn="ctr"/>
            <a:r>
              <a:rPr sz="950" b="1">
                <a:solidFill>
                  <a:srgbClr val="0F2442"/>
                </a:solidFill>
                <a:latin typeface="Calibri"/>
              </a:rPr>
              <a:t>Parent Receives
Notification</a:t>
            </a:r>
          </a:p>
        </p:txBody>
      </p:sp>
      <p:sp>
        <p:nvSpPr>
          <p:cNvPr id="21" name="Oval 20"/>
          <p:cNvSpPr/>
          <p:nvPr/>
        </p:nvSpPr>
        <p:spPr>
          <a:xfrm>
            <a:off x="3095847" y="4337320"/>
            <a:ext cx="180000" cy="180000"/>
          </a:xfrm>
          <a:prstGeom prst="ellipse">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21567" y="4292320"/>
            <a:ext cx="1320000" cy="270000"/>
          </a:xfrm>
          <a:prstGeom prst="rect">
            <a:avLst/>
          </a:prstGeom>
          <a:noFill/>
        </p:spPr>
        <p:txBody>
          <a:bodyPr wrap="square" anchor="ctr" lIns="0" rIns="0" tIns="0" bIns="0">
            <a:spAutoFit/>
          </a:bodyPr>
          <a:lstStyle/>
          <a:p>
            <a:pPr algn="l"/>
            <a:r>
              <a:rPr sz="950" b="1">
                <a:solidFill>
                  <a:srgbClr val="333333"/>
                </a:solidFill>
                <a:latin typeface="Calibri"/>
              </a:rPr>
              <a:t>Admin</a:t>
            </a:r>
          </a:p>
        </p:txBody>
      </p:sp>
      <p:sp>
        <p:nvSpPr>
          <p:cNvPr id="23" name="Oval 22"/>
          <p:cNvSpPr/>
          <p:nvPr/>
        </p:nvSpPr>
        <p:spPr>
          <a:xfrm>
            <a:off x="4595847" y="4337320"/>
            <a:ext cx="180000" cy="1800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21567" y="4292320"/>
            <a:ext cx="1320000" cy="270000"/>
          </a:xfrm>
          <a:prstGeom prst="rect">
            <a:avLst/>
          </a:prstGeom>
          <a:noFill/>
        </p:spPr>
        <p:txBody>
          <a:bodyPr wrap="square" anchor="ctr" lIns="0" rIns="0" tIns="0" bIns="0">
            <a:spAutoFit/>
          </a:bodyPr>
          <a:lstStyle/>
          <a:p>
            <a:pPr algn="l"/>
            <a:r>
              <a:rPr sz="950" b="1">
                <a:solidFill>
                  <a:srgbClr val="333333"/>
                </a:solidFill>
                <a:latin typeface="Calibri"/>
              </a:rPr>
              <a:t>Teacher</a:t>
            </a:r>
          </a:p>
        </p:txBody>
      </p:sp>
      <p:sp>
        <p:nvSpPr>
          <p:cNvPr id="25" name="Oval 24"/>
          <p:cNvSpPr/>
          <p:nvPr/>
        </p:nvSpPr>
        <p:spPr>
          <a:xfrm>
            <a:off x="6095847" y="4337320"/>
            <a:ext cx="180000" cy="180000"/>
          </a:xfrm>
          <a:prstGeom prst="ellipse">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1567" y="4292320"/>
            <a:ext cx="1320000" cy="270000"/>
          </a:xfrm>
          <a:prstGeom prst="rect">
            <a:avLst/>
          </a:prstGeom>
          <a:noFill/>
        </p:spPr>
        <p:txBody>
          <a:bodyPr wrap="square" anchor="ctr" lIns="0" rIns="0" tIns="0" bIns="0">
            <a:spAutoFit/>
          </a:bodyPr>
          <a:lstStyle/>
          <a:p>
            <a:pPr algn="l"/>
            <a:r>
              <a:rPr sz="950" b="1">
                <a:solidFill>
                  <a:srgbClr val="333333"/>
                </a:solidFill>
                <a:latin typeface="Calibri"/>
              </a:rPr>
              <a:t>Student</a:t>
            </a:r>
          </a:p>
        </p:txBody>
      </p:sp>
      <p:sp>
        <p:nvSpPr>
          <p:cNvPr id="27" name="Oval 26"/>
          <p:cNvSpPr/>
          <p:nvPr/>
        </p:nvSpPr>
        <p:spPr>
          <a:xfrm>
            <a:off x="7595847" y="4337320"/>
            <a:ext cx="180000" cy="180000"/>
          </a:xfrm>
          <a:prstGeom prst="ellipse">
            <a:avLst/>
          </a:prstGeom>
          <a:solidFill>
            <a:srgbClr val="D8C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1567" y="4292320"/>
            <a:ext cx="1320000" cy="270000"/>
          </a:xfrm>
          <a:prstGeom prst="rect">
            <a:avLst/>
          </a:prstGeom>
          <a:noFill/>
        </p:spPr>
        <p:txBody>
          <a:bodyPr wrap="square" anchor="ctr" lIns="0" rIns="0" tIns="0" bIns="0">
            <a:spAutoFit/>
          </a:bodyPr>
          <a:lstStyle/>
          <a:p>
            <a:pPr algn="l"/>
            <a:r>
              <a:rPr sz="950" b="1">
                <a:solidFill>
                  <a:srgbClr val="333333"/>
                </a:solidFill>
                <a:latin typeface="Calibri"/>
              </a:rPr>
              <a:t>Parent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Admin Portal</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Dashboard: system-wide summary — user counts, pending approvals, health status</a:t>
            </a:r>
          </a:p>
          <a:p>
            <a:pPr>
              <a:spcAft>
                <a:spcPts val="1000"/>
              </a:spcAft>
              <a:defRPr sz="1700" b="0">
                <a:solidFill>
                  <a:srgbClr val="333333"/>
                </a:solidFill>
              </a:defRPr>
            </a:pPr>
            <a:r>
              <a:t>•  User Management: create, edit, deactivate Students/Teachers/Parents/Admins</a:t>
            </a:r>
          </a:p>
          <a:p>
            <a:pPr>
              <a:spcAft>
                <a:spcPts val="1000"/>
              </a:spcAft>
              <a:defRPr sz="1700" b="0">
                <a:solidFill>
                  <a:srgbClr val="333333"/>
                </a:solidFill>
              </a:defRPr>
            </a:pPr>
            <a:r>
              <a:t>•  Academic Setup: manage Departments, Courses, Rooms, Semesters (reference/catalog data)</a:t>
            </a:r>
          </a:p>
          <a:p>
            <a:pPr>
              <a:spcAft>
                <a:spcPts val="1000"/>
              </a:spcAft>
              <a:defRPr sz="1700" b="0">
                <a:solidFill>
                  <a:srgbClr val="333333"/>
                </a:solidFill>
              </a:defRPr>
            </a:pPr>
            <a:r>
              <a:t>•  Timetable: create class sessions with conflict detection; approve/reject Teacher change requests</a:t>
            </a:r>
          </a:p>
          <a:p>
            <a:pPr>
              <a:spcAft>
                <a:spcPts val="1000"/>
              </a:spcAft>
              <a:defRPr sz="1700" b="0">
                <a:solidFill>
                  <a:srgbClr val="333333"/>
                </a:solidFill>
              </a:defRPr>
            </a:pPr>
            <a:r>
              <a:t>•  Result Approval: review and approve/reject submitted results before publication</a:t>
            </a:r>
          </a:p>
          <a:p>
            <a:pPr>
              <a:spcAft>
                <a:spcPts val="1000"/>
              </a:spcAft>
              <a:defRPr sz="1700" b="0">
                <a:solidFill>
                  <a:srgbClr val="333333"/>
                </a:solidFill>
              </a:defRPr>
            </a:pPr>
            <a:r>
              <a:t>•  Fee Dashboard: define fee structures, record payments, view balances</a:t>
            </a:r>
          </a:p>
          <a:p>
            <a:pPr>
              <a:spcAft>
                <a:spcPts val="1000"/>
              </a:spcAft>
              <a:defRPr sz="1700" b="0">
                <a:solidFill>
                  <a:srgbClr val="333333"/>
                </a:solidFill>
              </a:defRPr>
            </a:pPr>
            <a:r>
              <a:t>•  Reports: generate attendance, result, and fee reports, filterable by department/semester/student</a:t>
            </a:r>
          </a:p>
          <a:p>
            <a:pPr>
              <a:spcAft>
                <a:spcPts val="1000"/>
              </a:spcAft>
              <a:defRPr sz="1700" b="0">
                <a:solidFill>
                  <a:srgbClr val="333333"/>
                </a:solidFill>
              </a:defRPr>
            </a:pPr>
            <a:r>
              <a:t>•  Notifications: system-wide audit trail of key events</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02_Admin_Dashboard.jpg"/>
          <p:cNvPicPr>
            <a:picLocks noChangeAspect="1"/>
          </p:cNvPicPr>
          <p:nvPr/>
        </p:nvPicPr>
        <p:blipFill>
          <a:blip r:embed="rId3"/>
          <a:stretch>
            <a:fillRect/>
          </a:stretch>
        </p:blipFill>
        <p:spPr>
          <a:xfrm>
            <a:off x="7612360" y="2216582"/>
            <a:ext cx="1905980" cy="698636"/>
          </a:xfrm>
          <a:prstGeom prst="rect">
            <a:avLst/>
          </a:prstGeom>
          <a:ln w="9525">
            <a:solidFill>
              <a:srgbClr val="D8CEA8"/>
            </a:solidFill>
          </a:ln>
        </p:spPr>
      </p:pic>
      <p:sp>
        <p:nvSpPr>
          <p:cNvPr id="8" name="TextBox 7"/>
          <p:cNvSpPr txBox="1"/>
          <p:nvPr/>
        </p:nvSpPr>
        <p:spPr>
          <a:xfrm>
            <a:off x="7612360" y="3590480"/>
            <a:ext cx="1905980" cy="210000"/>
          </a:xfrm>
          <a:prstGeom prst="rect">
            <a:avLst/>
          </a:prstGeom>
          <a:noFill/>
        </p:spPr>
        <p:txBody>
          <a:bodyPr wrap="square" lIns="0" rIns="0" tIns="0" bIns="0">
            <a:spAutoFit/>
          </a:bodyPr>
          <a:lstStyle/>
          <a:p>
            <a:pPr algn="ctr"/>
            <a:r>
              <a:rPr sz="900" b="1" i="0">
                <a:solidFill>
                  <a:srgbClr val="0E7C86"/>
                </a:solidFill>
                <a:latin typeface="Calibri"/>
              </a:rPr>
              <a:t>Admin Dashboard Screenshot</a:t>
            </a:r>
          </a:p>
        </p:txBody>
      </p:sp>
      <p:pic>
        <p:nvPicPr>
          <p:cNvPr id="9" name="Picture 8" descr="06_Admin_Courses.jpg"/>
          <p:cNvPicPr>
            <a:picLocks noChangeAspect="1"/>
          </p:cNvPicPr>
          <p:nvPr/>
        </p:nvPicPr>
        <p:blipFill>
          <a:blip r:embed="rId4"/>
          <a:stretch>
            <a:fillRect/>
          </a:stretch>
        </p:blipFill>
        <p:spPr>
          <a:xfrm>
            <a:off x="9638340" y="2245257"/>
            <a:ext cx="1905980" cy="641285"/>
          </a:xfrm>
          <a:prstGeom prst="rect">
            <a:avLst/>
          </a:prstGeom>
          <a:ln w="9525">
            <a:solidFill>
              <a:srgbClr val="D8CEA8"/>
            </a:solidFill>
          </a:ln>
        </p:spPr>
      </p:pic>
      <p:sp>
        <p:nvSpPr>
          <p:cNvPr id="10" name="TextBox 9"/>
          <p:cNvSpPr txBox="1"/>
          <p:nvPr/>
        </p:nvSpPr>
        <p:spPr>
          <a:xfrm>
            <a:off x="9638340" y="3590480"/>
            <a:ext cx="1905980" cy="210000"/>
          </a:xfrm>
          <a:prstGeom prst="rect">
            <a:avLst/>
          </a:prstGeom>
          <a:noFill/>
        </p:spPr>
        <p:txBody>
          <a:bodyPr wrap="square" lIns="0" rIns="0" tIns="0" bIns="0">
            <a:spAutoFit/>
          </a:bodyPr>
          <a:lstStyle/>
          <a:p>
            <a:pPr algn="ctr"/>
            <a:r>
              <a:rPr sz="900" b="1" i="0">
                <a:solidFill>
                  <a:srgbClr val="0E7C86"/>
                </a:solidFill>
                <a:latin typeface="Calibri"/>
              </a:rPr>
              <a:t>Course Management Screenshot</a:t>
            </a:r>
          </a:p>
        </p:txBody>
      </p:sp>
      <p:pic>
        <p:nvPicPr>
          <p:cNvPr id="11" name="Picture 10" descr="11_Admin_Result_Approval.jpg"/>
          <p:cNvPicPr>
            <a:picLocks noChangeAspect="1"/>
          </p:cNvPicPr>
          <p:nvPr/>
        </p:nvPicPr>
        <p:blipFill>
          <a:blip r:embed="rId5"/>
          <a:stretch>
            <a:fillRect/>
          </a:stretch>
        </p:blipFill>
        <p:spPr>
          <a:xfrm>
            <a:off x="7612360" y="4699877"/>
            <a:ext cx="1905980" cy="378366"/>
          </a:xfrm>
          <a:prstGeom prst="rect">
            <a:avLst/>
          </a:prstGeom>
          <a:ln w="9525">
            <a:solidFill>
              <a:srgbClr val="D8CEA8"/>
            </a:solidFill>
          </a:ln>
        </p:spPr>
      </p:pic>
      <p:sp>
        <p:nvSpPr>
          <p:cNvPr id="12" name="TextBox 11"/>
          <p:cNvSpPr txBox="1"/>
          <p:nvPr/>
        </p:nvSpPr>
        <p:spPr>
          <a:xfrm>
            <a:off x="7612360" y="5913640"/>
            <a:ext cx="1905980" cy="210000"/>
          </a:xfrm>
          <a:prstGeom prst="rect">
            <a:avLst/>
          </a:prstGeom>
          <a:noFill/>
        </p:spPr>
        <p:txBody>
          <a:bodyPr wrap="square" lIns="0" rIns="0" tIns="0" bIns="0">
            <a:spAutoFit/>
          </a:bodyPr>
          <a:lstStyle/>
          <a:p>
            <a:pPr algn="ctr"/>
            <a:r>
              <a:rPr sz="900" b="1" i="0">
                <a:solidFill>
                  <a:srgbClr val="0E7C86"/>
                </a:solidFill>
                <a:latin typeface="Calibri"/>
              </a:rPr>
              <a:t>Result Approval Workflow</a:t>
            </a:r>
          </a:p>
        </p:txBody>
      </p:sp>
      <p:pic>
        <p:nvPicPr>
          <p:cNvPr id="13" name="Picture 12" descr="12_Admin_Fee_Dashboard.jpg"/>
          <p:cNvPicPr>
            <a:picLocks noChangeAspect="1"/>
          </p:cNvPicPr>
          <p:nvPr/>
        </p:nvPicPr>
        <p:blipFill>
          <a:blip r:embed="rId6"/>
          <a:stretch>
            <a:fillRect/>
          </a:stretch>
        </p:blipFill>
        <p:spPr>
          <a:xfrm>
            <a:off x="9638340" y="4415730"/>
            <a:ext cx="1905980" cy="946659"/>
          </a:xfrm>
          <a:prstGeom prst="rect">
            <a:avLst/>
          </a:prstGeom>
          <a:ln w="9525">
            <a:solidFill>
              <a:srgbClr val="D8CEA8"/>
            </a:solidFill>
          </a:ln>
        </p:spPr>
      </p:pic>
      <p:sp>
        <p:nvSpPr>
          <p:cNvPr id="14" name="TextBox 13"/>
          <p:cNvSpPr txBox="1"/>
          <p:nvPr/>
        </p:nvSpPr>
        <p:spPr>
          <a:xfrm>
            <a:off x="9638340" y="5913640"/>
            <a:ext cx="1905980" cy="210000"/>
          </a:xfrm>
          <a:prstGeom prst="rect">
            <a:avLst/>
          </a:prstGeom>
          <a:noFill/>
        </p:spPr>
        <p:txBody>
          <a:bodyPr wrap="square" lIns="0" rIns="0" tIns="0" bIns="0">
            <a:spAutoFit/>
          </a:bodyPr>
          <a:lstStyle/>
          <a:p>
            <a:pPr algn="ctr"/>
            <a:r>
              <a:rPr sz="900" b="1" i="0">
                <a:solidFill>
                  <a:srgbClr val="0E7C86"/>
                </a:solidFill>
                <a:latin typeface="Calibri"/>
              </a:rPr>
              <a:t>Fee Management Screenshot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Teacher Portal</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Dashboard: assigned classes and pending-grading summary</a:t>
            </a:r>
          </a:p>
          <a:p>
            <a:pPr>
              <a:spcAft>
                <a:spcPts val="1000"/>
              </a:spcAft>
              <a:defRPr sz="1700" b="0">
                <a:solidFill>
                  <a:srgbClr val="333333"/>
                </a:solidFill>
              </a:defRPr>
            </a:pPr>
            <a:r>
              <a:t>•  Profile: full Teaching History across all semesters (not just the current one)</a:t>
            </a:r>
          </a:p>
          <a:p>
            <a:pPr>
              <a:spcAft>
                <a:spcPts val="1000"/>
              </a:spcAft>
              <a:defRPr sz="1700" b="0">
                <a:solidFill>
                  <a:srgbClr val="333333"/>
                </a:solidFill>
              </a:defRPr>
            </a:pPr>
            <a:r>
              <a:t>•  Timetable: own class schedule, with a Request Change action (room/time)</a:t>
            </a:r>
          </a:p>
          <a:p>
            <a:pPr>
              <a:spcAft>
                <a:spcPts val="1000"/>
              </a:spcAft>
              <a:defRPr sz="1700" b="0">
                <a:solidFill>
                  <a:srgbClr val="333333"/>
                </a:solidFill>
              </a:defRPr>
            </a:pPr>
            <a:r>
              <a:t>•  Attendance Marker: mark present/absent per class session</a:t>
            </a:r>
          </a:p>
          <a:p>
            <a:pPr>
              <a:spcAft>
                <a:spcPts val="1000"/>
              </a:spcAft>
              <a:defRPr sz="1700" b="0">
                <a:solidFill>
                  <a:srgbClr val="333333"/>
                </a:solidFill>
              </a:defRPr>
            </a:pPr>
            <a:r>
              <a:t>•  Exam Builder: author exams — title, type, time limit, questions across four types</a:t>
            </a:r>
          </a:p>
          <a:p>
            <a:pPr>
              <a:spcAft>
                <a:spcPts val="1000"/>
              </a:spcAft>
              <a:defRPr sz="1700" b="0">
                <a:solidFill>
                  <a:srgbClr val="333333"/>
                </a:solidFill>
              </a:defRPr>
            </a:pPr>
            <a:r>
              <a:t>•  Exam List: manage exam status lifecycle — draft → scheduled → open → closed → published</a:t>
            </a:r>
          </a:p>
          <a:p>
            <a:pPr>
              <a:spcAft>
                <a:spcPts val="1000"/>
              </a:spcAft>
              <a:defRPr sz="1700" b="0">
                <a:solidFill>
                  <a:srgbClr val="333333"/>
                </a:solidFill>
              </a:defRPr>
            </a:pPr>
            <a:r>
              <a:t>•  Grading Interface: award marks and feedback per question for submitted answers</a:t>
            </a:r>
          </a:p>
          <a:p>
            <a:pPr>
              <a:spcAft>
                <a:spcPts val="1000"/>
              </a:spcAft>
              <a:defRPr sz="1700" b="0">
                <a:solidFill>
                  <a:srgbClr val="333333"/>
                </a:solidFill>
              </a:defRPr>
            </a:pPr>
            <a:r>
              <a:t>•  Results: view own course-level results before Admin approval</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18_Teacher_Dashboard.jpg"/>
          <p:cNvPicPr>
            <a:picLocks noChangeAspect="1"/>
          </p:cNvPicPr>
          <p:nvPr/>
        </p:nvPicPr>
        <p:blipFill>
          <a:blip r:embed="rId3"/>
          <a:stretch>
            <a:fillRect/>
          </a:stretch>
        </p:blipFill>
        <p:spPr>
          <a:xfrm>
            <a:off x="7612360" y="2232670"/>
            <a:ext cx="3931960" cy="671460"/>
          </a:xfrm>
          <a:prstGeom prst="rect">
            <a:avLst/>
          </a:prstGeom>
          <a:ln w="9525">
            <a:solidFill>
              <a:srgbClr val="D8CEA8"/>
            </a:solidFill>
          </a:ln>
        </p:spPr>
      </p:pic>
      <p:sp>
        <p:nvSpPr>
          <p:cNvPr id="8" name="TextBox 7"/>
          <p:cNvSpPr txBox="1"/>
          <p:nvPr/>
        </p:nvSpPr>
        <p:spPr>
          <a:xfrm>
            <a:off x="7612360" y="3595480"/>
            <a:ext cx="3931960" cy="210000"/>
          </a:xfrm>
          <a:prstGeom prst="rect">
            <a:avLst/>
          </a:prstGeom>
          <a:noFill/>
        </p:spPr>
        <p:txBody>
          <a:bodyPr wrap="square" lIns="0" rIns="0" tIns="0" bIns="0">
            <a:spAutoFit/>
          </a:bodyPr>
          <a:lstStyle/>
          <a:p>
            <a:pPr algn="ctr"/>
            <a:r>
              <a:rPr sz="900" b="1" i="0">
                <a:solidFill>
                  <a:srgbClr val="0E7C86"/>
                </a:solidFill>
                <a:latin typeface="Calibri"/>
              </a:rPr>
              <a:t>Teacher Dashboard Screenshot</a:t>
            </a:r>
          </a:p>
        </p:txBody>
      </p:sp>
      <p:pic>
        <p:nvPicPr>
          <p:cNvPr id="9" name="Picture 8" descr="23_Teacher_Exam_Builder.jpg"/>
          <p:cNvPicPr>
            <a:picLocks noChangeAspect="1"/>
          </p:cNvPicPr>
          <p:nvPr/>
        </p:nvPicPr>
        <p:blipFill>
          <a:blip r:embed="rId4"/>
          <a:stretch>
            <a:fillRect/>
          </a:stretch>
        </p:blipFill>
        <p:spPr>
          <a:xfrm>
            <a:off x="7612360" y="4109080"/>
            <a:ext cx="3931960" cy="1554960"/>
          </a:xfrm>
          <a:prstGeom prst="rect">
            <a:avLst/>
          </a:prstGeom>
          <a:ln w="9525">
            <a:solidFill>
              <a:srgbClr val="D8CEA8"/>
            </a:solidFill>
          </a:ln>
        </p:spPr>
      </p:pic>
      <p:sp>
        <p:nvSpPr>
          <p:cNvPr id="10" name="TextBox 9"/>
          <p:cNvSpPr txBox="1"/>
          <p:nvPr/>
        </p:nvSpPr>
        <p:spPr>
          <a:xfrm>
            <a:off x="7612360" y="5913640"/>
            <a:ext cx="3931960" cy="210000"/>
          </a:xfrm>
          <a:prstGeom prst="rect">
            <a:avLst/>
          </a:prstGeom>
          <a:noFill/>
        </p:spPr>
        <p:txBody>
          <a:bodyPr wrap="square" lIns="0" rIns="0" tIns="0" bIns="0">
            <a:spAutoFit/>
          </a:bodyPr>
          <a:lstStyle/>
          <a:p>
            <a:pPr algn="ctr"/>
            <a:r>
              <a:rPr sz="900" b="1" i="0">
                <a:solidFill>
                  <a:srgbClr val="0E7C86"/>
                </a:solidFill>
                <a:latin typeface="Calibri"/>
              </a:rPr>
              <a:t>Exam Builder Screenshot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Student Portal</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Dashboard: attendance %, upcoming exams, and recent results at a glance</a:t>
            </a:r>
          </a:p>
          <a:p>
            <a:pPr>
              <a:spcAft>
                <a:spcPts val="1000"/>
              </a:spcAft>
              <a:defRPr sz="1700" b="0">
                <a:solidFill>
                  <a:srgbClr val="333333"/>
                </a:solidFill>
              </a:defRPr>
            </a:pPr>
            <a:r>
              <a:t>•  Profile: academic history alongside profile data</a:t>
            </a:r>
          </a:p>
          <a:p>
            <a:pPr>
              <a:spcAft>
                <a:spcPts val="1000"/>
              </a:spcAft>
              <a:defRPr sz="1700" b="0">
                <a:solidFill>
                  <a:srgbClr val="333333"/>
                </a:solidFill>
              </a:defRPr>
            </a:pPr>
            <a:r>
              <a:t>•  Timetable: class schedule, table or calendar view</a:t>
            </a:r>
          </a:p>
          <a:p>
            <a:pPr>
              <a:spcAft>
                <a:spcPts val="1000"/>
              </a:spcAft>
              <a:defRPr sz="1700" b="0">
                <a:solidFill>
                  <a:srgbClr val="333333"/>
                </a:solidFill>
              </a:defRPr>
            </a:pPr>
            <a:r>
              <a:t>•  Attendance: table and calendar views of own attendance record</a:t>
            </a:r>
          </a:p>
          <a:p>
            <a:pPr>
              <a:spcAft>
                <a:spcPts val="1000"/>
              </a:spcAft>
              <a:defRPr sz="1700" b="0">
                <a:solidFill>
                  <a:srgbClr val="333333"/>
                </a:solidFill>
              </a:defRPr>
            </a:pPr>
            <a:r>
              <a:t>•  Exams: list of available (non-draft) exams; live timed exam-taking interface</a:t>
            </a:r>
          </a:p>
          <a:p>
            <a:pPr>
              <a:spcAft>
                <a:spcPts val="1000"/>
              </a:spcAft>
              <a:defRPr sz="1700" b="0">
                <a:solidFill>
                  <a:srgbClr val="333333"/>
                </a:solidFill>
              </a:defRPr>
            </a:pPr>
            <a:r>
              <a:t>•  Results: published results with grade letters and per-semester GPA</a:t>
            </a:r>
          </a:p>
          <a:p>
            <a:pPr>
              <a:spcAft>
                <a:spcPts val="1000"/>
              </a:spcAft>
              <a:defRPr sz="1700" b="0">
                <a:solidFill>
                  <a:srgbClr val="333333"/>
                </a:solidFill>
              </a:defRPr>
            </a:pPr>
            <a:r>
              <a:t>•  Fee Centre: outstanding balance, invoice history, downloadable invoice/receipt PDF</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25_Student_Dashboard.jpg"/>
          <p:cNvPicPr>
            <a:picLocks noChangeAspect="1"/>
          </p:cNvPicPr>
          <p:nvPr/>
        </p:nvPicPr>
        <p:blipFill>
          <a:blip r:embed="rId3"/>
          <a:stretch>
            <a:fillRect/>
          </a:stretch>
        </p:blipFill>
        <p:spPr>
          <a:xfrm>
            <a:off x="7612360" y="2005264"/>
            <a:ext cx="3931960" cy="1126271"/>
          </a:xfrm>
          <a:prstGeom prst="rect">
            <a:avLst/>
          </a:prstGeom>
          <a:ln w="9525">
            <a:solidFill>
              <a:srgbClr val="D8CEA8"/>
            </a:solidFill>
          </a:ln>
        </p:spPr>
      </p:pic>
      <p:sp>
        <p:nvSpPr>
          <p:cNvPr id="8" name="TextBox 7"/>
          <p:cNvSpPr txBox="1"/>
          <p:nvPr/>
        </p:nvSpPr>
        <p:spPr>
          <a:xfrm>
            <a:off x="7612360" y="3595480"/>
            <a:ext cx="3931960" cy="210000"/>
          </a:xfrm>
          <a:prstGeom prst="rect">
            <a:avLst/>
          </a:prstGeom>
          <a:noFill/>
        </p:spPr>
        <p:txBody>
          <a:bodyPr wrap="square" lIns="0" rIns="0" tIns="0" bIns="0">
            <a:spAutoFit/>
          </a:bodyPr>
          <a:lstStyle/>
          <a:p>
            <a:pPr algn="ctr"/>
            <a:r>
              <a:rPr sz="900" b="1" i="0">
                <a:solidFill>
                  <a:srgbClr val="0E7C86"/>
                </a:solidFill>
                <a:latin typeface="Calibri"/>
              </a:rPr>
              <a:t>Student Dashboard Screenshot</a:t>
            </a:r>
          </a:p>
        </p:txBody>
      </p:sp>
      <p:sp>
        <p:nvSpPr>
          <p:cNvPr id="9" name="Rounded Rectangle 8"/>
          <p:cNvSpPr/>
          <p:nvPr/>
        </p:nvSpPr>
        <p:spPr>
          <a:xfrm>
            <a:off x="7612360" y="3895480"/>
            <a:ext cx="3931960" cy="1982160"/>
          </a:xfrm>
          <a:prstGeom prst="roundRect">
            <a:avLst/>
          </a:prstGeom>
          <a:solidFill>
            <a:srgbClr val="FFFFFF"/>
          </a:solidFill>
          <a:ln w="12700">
            <a:solidFill>
              <a:srgbClr val="D8CE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2300"/>
              <a:t>📷</a:t>
            </a:r>
          </a:p>
          <a:p>
            <a:pPr algn="ctr"/>
            <a:r>
              <a:rPr sz="1050" b="1">
                <a:solidFill>
                  <a:srgbClr val="0E7C86"/>
                </a:solidFill>
                <a:latin typeface="Calibri"/>
              </a:rPr>
              <a:t>Online Examination Screenshot</a:t>
            </a:r>
          </a:p>
          <a:p>
            <a:pPr algn="ctr"/>
            <a:r>
              <a:rPr sz="800" i="1">
                <a:solidFill>
                  <a:srgbClr val="5A4A1E"/>
                </a:solidFill>
                <a:latin typeface="Calibri"/>
              </a:rPr>
              <a:t>screenshot placeholder</a:t>
            </a:r>
          </a:p>
        </p:txBody>
      </p:sp>
      <p:sp>
        <p:nvSpPr>
          <p:cNvPr id="10" name="TextBox 9"/>
          <p:cNvSpPr txBox="1"/>
          <p:nvPr/>
        </p:nvSpPr>
        <p:spPr>
          <a:xfrm>
            <a:off x="7612360" y="5913640"/>
            <a:ext cx="3931960" cy="210000"/>
          </a:xfrm>
          <a:prstGeom prst="rect">
            <a:avLst/>
          </a:prstGeom>
          <a:noFill/>
        </p:spPr>
        <p:txBody>
          <a:bodyPr wrap="square" lIns="0" rIns="0" tIns="0" bIns="0">
            <a:spAutoFit/>
          </a:bodyPr>
          <a:lstStyle/>
          <a:p>
            <a:pPr algn="ctr"/>
            <a:r>
              <a:rPr sz="900" b="1" i="0">
                <a:solidFill>
                  <a:srgbClr val="0E7C86"/>
                </a:solidFill>
                <a:latin typeface="Calibri"/>
              </a:rPr>
              <a:t>Live Exam Room — timed attempt in progress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Parent Portal</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Linked-child selector — auto-selected when a Parent has exactly one linked child</a:t>
            </a:r>
          </a:p>
          <a:p>
            <a:pPr>
              <a:spcAft>
                <a:spcPts val="1000"/>
              </a:spcAft>
              <a:defRPr sz="1700" b="0">
                <a:solidFill>
                  <a:srgbClr val="333333"/>
                </a:solidFill>
              </a:defRPr>
            </a:pPr>
            <a:r>
              <a:t>•  Dashboard: Fee Status, Attendance %, and Upcoming Exams for the selected child</a:t>
            </a:r>
          </a:p>
          <a:p>
            <a:pPr>
              <a:spcAft>
                <a:spcPts val="1000"/>
              </a:spcAft>
              <a:defRPr sz="1700" b="0">
                <a:solidFill>
                  <a:srgbClr val="333333"/>
                </a:solidFill>
              </a:defRPr>
            </a:pPr>
            <a:r>
              <a:t>•  Attendance: linked child's record with PDF/Excel/CSV export</a:t>
            </a:r>
          </a:p>
          <a:p>
            <a:pPr>
              <a:spcAft>
                <a:spcPts val="1000"/>
              </a:spcAft>
              <a:defRPr sz="1700" b="0">
                <a:solidFill>
                  <a:srgbClr val="333333"/>
                </a:solidFill>
              </a:defRPr>
            </a:pPr>
            <a:r>
              <a:t>•  Results: linked child's published results</a:t>
            </a:r>
          </a:p>
          <a:p>
            <a:pPr>
              <a:spcAft>
                <a:spcPts val="1000"/>
              </a:spcAft>
              <a:defRPr sz="1700" b="0">
                <a:solidFill>
                  <a:srgbClr val="333333"/>
                </a:solidFill>
              </a:defRPr>
            </a:pPr>
            <a:r>
              <a:t>•  Fee Centre: linked child's balance and invoice history</a:t>
            </a:r>
          </a:p>
          <a:p>
            <a:pPr>
              <a:spcAft>
                <a:spcPts val="1000"/>
              </a:spcAft>
              <a:defRPr sz="1700" b="0">
                <a:solidFill>
                  <a:srgbClr val="333333"/>
                </a:solidFill>
              </a:defRPr>
            </a:pPr>
            <a:r>
              <a:t>•  Timetable: linked child's class schedule</a:t>
            </a:r>
          </a:p>
          <a:p>
            <a:pPr>
              <a:spcAft>
                <a:spcPts val="1000"/>
              </a:spcAft>
              <a:defRPr sz="1700" b="0">
                <a:solidFill>
                  <a:srgbClr val="333333"/>
                </a:solidFill>
              </a:defRPr>
            </a:pPr>
            <a:r>
              <a:t>•  New in v2.4.1 — Upcoming Exams widget: previously showed 'Not available'; now scoped to the linked child</a:t>
            </a:r>
          </a:p>
          <a:p>
            <a:pPr>
              <a:spcAft>
                <a:spcPts val="1000"/>
              </a:spcAft>
              <a:defRPr sz="1700" b="0">
                <a:solidFill>
                  <a:srgbClr val="333333"/>
                </a:solidFill>
              </a:defRPr>
            </a:pPr>
            <a:r>
              <a:t>•  Every view is ownership-verified server-side against the parent_student_link table</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34_Parent_Dashboard.jpg"/>
          <p:cNvPicPr>
            <a:picLocks noChangeAspect="1"/>
          </p:cNvPicPr>
          <p:nvPr/>
        </p:nvPicPr>
        <p:blipFill>
          <a:blip r:embed="rId3"/>
          <a:stretch>
            <a:fillRect/>
          </a:stretch>
        </p:blipFill>
        <p:spPr>
          <a:xfrm>
            <a:off x="7612360" y="2674433"/>
            <a:ext cx="3931960" cy="1876093"/>
          </a:xfrm>
          <a:prstGeom prst="rect">
            <a:avLst/>
          </a:prstGeom>
          <a:ln w="9525">
            <a:solidFill>
              <a:srgbClr val="D8CEA8"/>
            </a:solidFill>
          </a:ln>
        </p:spPr>
      </p:pic>
      <p:sp>
        <p:nvSpPr>
          <p:cNvPr id="8" name="TextBox 7"/>
          <p:cNvSpPr txBox="1"/>
          <p:nvPr/>
        </p:nvSpPr>
        <p:spPr>
          <a:xfrm>
            <a:off x="7612360" y="5683640"/>
            <a:ext cx="3931960" cy="210000"/>
          </a:xfrm>
          <a:prstGeom prst="rect">
            <a:avLst/>
          </a:prstGeom>
          <a:noFill/>
        </p:spPr>
        <p:txBody>
          <a:bodyPr wrap="square" lIns="0" rIns="0" tIns="0" bIns="0">
            <a:spAutoFit/>
          </a:bodyPr>
          <a:lstStyle/>
          <a:p>
            <a:pPr algn="ctr"/>
            <a:r>
              <a:rPr sz="900" b="1" i="0">
                <a:solidFill>
                  <a:srgbClr val="0E7C86"/>
                </a:solidFill>
                <a:latin typeface="Calibri"/>
              </a:rPr>
              <a:t>Parent Dashboard Screenshot — Upcoming Exams (v2.4.1)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Reports (PDF / Excel / CSV)</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Attendance reports: PDF, Excel, and CSV export, filterable by department/semester/student</a:t>
            </a:r>
          </a:p>
          <a:p>
            <a:pPr>
              <a:spcAft>
                <a:spcPts val="1000"/>
              </a:spcAft>
              <a:defRPr sz="1700" b="0">
                <a:solidFill>
                  <a:srgbClr val="333333"/>
                </a:solidFill>
              </a:defRPr>
            </a:pPr>
            <a:r>
              <a:t>•  PDF generation via ReportLab — shared layout module reused across transcripts, invoices, reports</a:t>
            </a:r>
          </a:p>
          <a:p>
            <a:pPr>
              <a:spcAft>
                <a:spcPts val="1000"/>
              </a:spcAft>
              <a:defRPr sz="1700" b="0">
                <a:solidFill>
                  <a:srgbClr val="333333"/>
                </a:solidFill>
              </a:defRPr>
            </a:pPr>
            <a:r>
              <a:t>•  Excel export via openpyxl — pure Python, no external binary dependency</a:t>
            </a:r>
          </a:p>
          <a:p>
            <a:pPr>
              <a:spcAft>
                <a:spcPts val="1000"/>
              </a:spcAft>
              <a:defRPr sz="1700" b="0">
                <a:solidFill>
                  <a:srgbClr val="333333"/>
                </a:solidFill>
              </a:defRPr>
            </a:pPr>
            <a:r>
              <a:t>•  Transcript PDF: per-semester grades, credit-weighted GPA, custom-drawn institutional seal</a:t>
            </a:r>
          </a:p>
          <a:p>
            <a:pPr>
              <a:spcAft>
                <a:spcPts val="1000"/>
              </a:spcAft>
              <a:defRPr sz="1700" b="0">
                <a:solidFill>
                  <a:srgbClr val="333333"/>
                </a:solidFill>
              </a:defRPr>
            </a:pPr>
            <a:r>
              <a:t>•  Fee invoice PDF: automatically relabels itself 'Fee Receipt' once the invoice is marked paid</a:t>
            </a:r>
          </a:p>
          <a:p>
            <a:pPr>
              <a:spcAft>
                <a:spcPts val="1000"/>
              </a:spcAft>
              <a:defRPr sz="1700" b="0">
                <a:solidFill>
                  <a:srgbClr val="333333"/>
                </a:solidFill>
              </a:defRPr>
            </a:pPr>
            <a:r>
              <a:t>•  All generation runs as a background task — never inline in the request path, to keep latency low</a:t>
            </a:r>
          </a:p>
          <a:p>
            <a:pPr>
              <a:spcAft>
                <a:spcPts val="1000"/>
              </a:spcAft>
              <a:defRPr sz="1700" b="0">
                <a:solidFill>
                  <a:srgbClr val="333333"/>
                </a:solidFill>
              </a:defRPr>
            </a:pPr>
            <a:r>
              <a:t>•  Print-optimized layout (A4, dedicated print stylesheet) available directly in the browser</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8" name="TextBox 7"/>
          <p:cNvSpPr txBox="1"/>
          <p:nvPr/>
        </p:nvSpPr>
        <p:spPr>
          <a:xfrm>
            <a:off x="7612360" y="3590480"/>
            <a:ext cx="1905980" cy="210000"/>
          </a:xfrm>
          <a:prstGeom prst="rect">
            <a:avLst/>
          </a:prstGeom>
          <a:noFill/>
        </p:spPr>
        <p:txBody>
          <a:bodyPr wrap="square" lIns="0" rIns="0" tIns="0" bIns="0">
            <a:spAutoFit/>
          </a:bodyPr>
          <a:lstStyle/>
          <a:p>
            <a:pPr algn="ctr"/>
            <a:r>
              <a:rPr sz="900" b="1" i="0">
                <a:solidFill>
                  <a:srgbClr val="0E7C86"/>
                </a:solidFill>
                <a:latin typeface="Calibri"/>
              </a:rPr>
              <a:t>Attendance Report — PDF Export</a:t>
            </a:r>
          </a:p>
        </p:txBody>
      </p:sp>
      <p:pic>
        <p:nvPicPr>
          <p:cNvPr id="9" name="Picture 8" descr="14_Admin_Report_Results.jpg"/>
          <p:cNvPicPr>
            <a:picLocks noChangeAspect="1"/>
          </p:cNvPicPr>
          <p:nvPr/>
        </p:nvPicPr>
        <p:blipFill>
          <a:blip r:embed="rId4"/>
          <a:stretch>
            <a:fillRect/>
          </a:stretch>
        </p:blipFill>
        <p:spPr>
          <a:xfrm>
            <a:off x="9638340" y="2287339"/>
            <a:ext cx="1905980" cy="557121"/>
          </a:xfrm>
          <a:prstGeom prst="rect">
            <a:avLst/>
          </a:prstGeom>
          <a:ln w="9525">
            <a:solidFill>
              <a:srgbClr val="D8CEA8"/>
            </a:solidFill>
          </a:ln>
        </p:spPr>
      </p:pic>
      <p:sp>
        <p:nvSpPr>
          <p:cNvPr id="10" name="TextBox 9"/>
          <p:cNvSpPr txBox="1"/>
          <p:nvPr/>
        </p:nvSpPr>
        <p:spPr>
          <a:xfrm>
            <a:off x="9638340" y="3590480"/>
            <a:ext cx="1905980" cy="210000"/>
          </a:xfrm>
          <a:prstGeom prst="rect">
            <a:avLst/>
          </a:prstGeom>
          <a:noFill/>
        </p:spPr>
        <p:txBody>
          <a:bodyPr wrap="square" lIns="0" rIns="0" tIns="0" bIns="0">
            <a:spAutoFit/>
          </a:bodyPr>
          <a:lstStyle/>
          <a:p>
            <a:pPr algn="ctr"/>
            <a:r>
              <a:rPr sz="900" b="1" i="0">
                <a:solidFill>
                  <a:srgbClr val="0E7C86"/>
                </a:solidFill>
                <a:latin typeface="Calibri"/>
              </a:rPr>
              <a:t>Reports Dashboard — Results</a:t>
            </a:r>
          </a:p>
        </p:txBody>
      </p:sp>
      <p:pic>
        <p:nvPicPr>
          <p:cNvPr id="13" name="Picture 12" descr="attendance_export.jpg"/>
          <p:cNvPicPr>
            <a:picLocks noChangeAspect="1"/>
          </p:cNvPicPr>
          <p:nvPr/>
        </p:nvPicPr>
        <p:blipFill>
          <a:blip r:embed="rId5"/>
          <a:stretch>
            <a:fillRect/>
          </a:stretch>
        </p:blipFill>
        <p:spPr>
          <a:xfrm>
            <a:off x="7612360" y="2265437"/>
            <a:ext cx="1905980" cy="826926"/>
          </a:xfrm>
          <a:prstGeom prst="rect">
            <a:avLst/>
          </a:prstGeom>
          <a:ln w="9525">
            <a:solidFill>
              <a:srgbClr val="D8CEA8"/>
            </a:solidFill>
          </a:ln>
        </p:spPr>
      </p:pic>
      <p:pic>
        <p:nvPicPr>
          <p:cNvPr id="14" name="Picture 13" descr="Transcript.jpg"/>
          <p:cNvPicPr>
            <a:picLocks noChangeAspect="1"/>
          </p:cNvPicPr>
          <p:nvPr/>
        </p:nvPicPr>
        <p:blipFill>
          <a:blip r:embed="rId6"/>
          <a:stretch>
            <a:fillRect/>
          </a:stretch>
        </p:blipFill>
        <p:spPr>
          <a:xfrm>
            <a:off x="7612360" y="4423744"/>
            <a:ext cx="1905980" cy="930631"/>
          </a:xfrm>
          <a:prstGeom prst="rect">
            <a:avLst/>
          </a:prstGeom>
          <a:ln w="9525">
            <a:solidFill>
              <a:srgbClr val="D8CEA8"/>
            </a:solidFill>
          </a:ln>
        </p:spPr>
      </p:pic>
      <p:sp>
        <p:nvSpPr>
          <p:cNvPr id="15" name="TextBox 14"/>
          <p:cNvSpPr txBox="1"/>
          <p:nvPr/>
        </p:nvSpPr>
        <p:spPr>
          <a:xfrm>
            <a:off x="7612360" y="5913640"/>
            <a:ext cx="1905980" cy="210000"/>
          </a:xfrm>
          <a:prstGeom prst="rect">
            <a:avLst/>
          </a:prstGeom>
          <a:noFill/>
        </p:spPr>
        <p:txBody>
          <a:bodyPr wrap="square" lIns="0" rIns="0" tIns="0" bIns="0">
            <a:spAutoFit/>
          </a:bodyPr>
          <a:lstStyle/>
          <a:p>
            <a:pPr algn="ctr"/>
            <a:r>
              <a:rPr sz="900" b="1">
                <a:solidFill>
                  <a:srgbClr val="0E7C86"/>
                </a:solidFill>
                <a:latin typeface="Calibri"/>
              </a:rPr>
              <a:t>Transcript PDF Screenshot</a:t>
            </a:r>
          </a:p>
        </p:txBody>
      </p:sp>
      <p:pic>
        <p:nvPicPr>
          <p:cNvPr id="16" name="Picture 15" descr="invoice.jpg"/>
          <p:cNvPicPr>
            <a:picLocks noChangeAspect="1"/>
          </p:cNvPicPr>
          <p:nvPr/>
        </p:nvPicPr>
        <p:blipFill>
          <a:blip r:embed="rId7"/>
          <a:stretch>
            <a:fillRect/>
          </a:stretch>
        </p:blipFill>
        <p:spPr>
          <a:xfrm>
            <a:off x="9638340" y="4401165"/>
            <a:ext cx="1905980" cy="975789"/>
          </a:xfrm>
          <a:prstGeom prst="rect">
            <a:avLst/>
          </a:prstGeom>
          <a:ln w="9525">
            <a:solidFill>
              <a:srgbClr val="D8CEA8"/>
            </a:solidFill>
          </a:ln>
        </p:spPr>
      </p:pic>
      <p:sp>
        <p:nvSpPr>
          <p:cNvPr id="17" name="TextBox 16"/>
          <p:cNvSpPr txBox="1"/>
          <p:nvPr/>
        </p:nvSpPr>
        <p:spPr>
          <a:xfrm>
            <a:off x="9638340" y="5913640"/>
            <a:ext cx="1905980" cy="210000"/>
          </a:xfrm>
          <a:prstGeom prst="rect">
            <a:avLst/>
          </a:prstGeom>
          <a:noFill/>
        </p:spPr>
        <p:txBody>
          <a:bodyPr wrap="square" lIns="0" rIns="0" tIns="0" bIns="0">
            <a:spAutoFit/>
          </a:bodyPr>
          <a:lstStyle/>
          <a:p>
            <a:pPr algn="ctr"/>
            <a:r>
              <a:rPr sz="900" b="1">
                <a:solidFill>
                  <a:srgbClr val="0E7C86"/>
                </a:solidFill>
                <a:latin typeface="Calibri"/>
              </a:rPr>
              <a:t>Invoice PDF Screenshot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Testing Results</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549 automated tests, all passing — 484 backend (pytest), 65 frontend (Vitest)</a:t>
            </a:r>
          </a:p>
          <a:p>
            <a:pPr>
              <a:spcAft>
                <a:spcPts val="1000"/>
              </a:spcAft>
              <a:defRPr sz="1700" b="0">
                <a:solidFill>
                  <a:srgbClr val="333333"/>
                </a:solidFill>
              </a:defRPr>
            </a:pPr>
            <a:r>
              <a:t>•  Backend unit tests: service-layer business logic, repositories stubbed, no database required</a:t>
            </a:r>
          </a:p>
          <a:p>
            <a:pPr>
              <a:spcAft>
                <a:spcPts val="1000"/>
              </a:spcAft>
              <a:defRPr sz="1700" b="0">
                <a:solidFill>
                  <a:srgbClr val="333333"/>
                </a:solidFill>
              </a:defRPr>
            </a:pPr>
            <a:r>
              <a:t>•  Backend integration tests: full request → database → response cycle against a real, disposable PostgreSQL database</a:t>
            </a:r>
          </a:p>
          <a:p>
            <a:pPr>
              <a:spcAft>
                <a:spcPts val="1000"/>
              </a:spcAft>
              <a:defRPr sz="1700" b="0">
                <a:solidFill>
                  <a:srgbClr val="333333"/>
                </a:solidFill>
              </a:defRPr>
            </a:pPr>
            <a:r>
              <a:t>•  Frontend component tests: exam timer, grading form, approval workflow, Parent-facing views</a:t>
            </a:r>
          </a:p>
          <a:p>
            <a:pPr>
              <a:spcAft>
                <a:spcPts val="1000"/>
              </a:spcAft>
              <a:defRPr sz="1700" b="0">
                <a:solidFill>
                  <a:srgbClr val="333333"/>
                </a:solidFill>
              </a:defRPr>
            </a:pPr>
            <a:r>
              <a:t>•  Every business rule (BR-xxx) and validation rule (VR-xxx) has a dedicated test</a:t>
            </a:r>
          </a:p>
          <a:p>
            <a:pPr>
              <a:spcAft>
                <a:spcPts val="1000"/>
              </a:spcAft>
              <a:defRPr sz="1700" b="0">
                <a:solidFill>
                  <a:srgbClr val="333333"/>
                </a:solidFill>
              </a:defRPr>
            </a:pPr>
            <a:r>
              <a:t>•  Every RBAC/ownership boundary has an explicit negative test — wrong-role/wrong-owner requests verified rejected</a:t>
            </a:r>
          </a:p>
          <a:p>
            <a:pPr>
              <a:spcAft>
                <a:spcPts val="1000"/>
              </a:spcAft>
              <a:defRPr sz="1700" b="0">
                <a:solidFill>
                  <a:srgbClr val="333333"/>
                </a:solidFill>
              </a:defRPr>
            </a:pPr>
            <a:r>
              <a:t>•  Every workflow state machine tested for both valid and invalid transitions</a:t>
            </a:r>
          </a:p>
          <a:p>
            <a:pPr>
              <a:spcAft>
                <a:spcPts val="1000"/>
              </a:spcAft>
              <a:defRPr sz="1700" b="0">
                <a:solidFill>
                  <a:srgbClr val="333333"/>
                </a:solidFill>
              </a:defRPr>
            </a:pPr>
            <a:r>
              <a:t>•  Continuous Integration (GitHub Actions) runs the full suite plus a schema-drift check on every push</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Rounded Rectangle 6"/>
          <p:cNvSpPr/>
          <p:nvPr/>
        </p:nvSpPr>
        <p:spPr>
          <a:xfrm>
            <a:off x="7612360" y="1577320"/>
            <a:ext cx="3931960" cy="4406320"/>
          </a:xfrm>
          <a:prstGeom prst="roundRect">
            <a:avLst/>
          </a:prstGeom>
          <a:solidFill>
            <a:srgbClr val="0B162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tIns="150000"/>
          <a:lstStyle/>
          <a:p>
            <a:pPr algn="ctr"/>
            <a:r>
              <a:rPr sz="1150" b="0">
                <a:solidFill>
                  <a:srgbClr val="FFFFFF"/>
                </a:solidFill>
                <a:latin typeface="Consolas"/>
              </a:rPr>
              <a:t>$ pytest</a:t>
            </a:r>
          </a:p>
          <a:p>
            <a:r>
              <a:rPr sz="1150" b="1">
                <a:solidFill>
                  <a:srgbClr val="4CD97B"/>
                </a:solidFill>
                <a:latin typeface="Consolas"/>
              </a:rPr>
              <a:t>484 passed in 71.4s</a:t>
            </a:r>
          </a:p>
          <a:p>
            <a:r>
              <a:rPr sz="1150" b="0">
                <a:solidFill>
                  <a:srgbClr val="FFFFFF"/>
                </a:solidFill>
                <a:latin typeface="Consolas"/>
              </a:rPr>
              <a:t> </a:t>
            </a:r>
          </a:p>
          <a:p>
            <a:r>
              <a:rPr sz="1150" b="0">
                <a:solidFill>
                  <a:srgbClr val="FFFFFF"/>
                </a:solidFill>
                <a:latin typeface="Consolas"/>
              </a:rPr>
              <a:t>$ vitest run</a:t>
            </a:r>
          </a:p>
          <a:p>
            <a:r>
              <a:rPr sz="1150" b="1">
                <a:solidFill>
                  <a:srgbClr val="4CD97B"/>
                </a:solidFill>
                <a:latin typeface="Consolas"/>
              </a:rPr>
              <a:t>65 passed (16 test files)</a:t>
            </a:r>
          </a:p>
          <a:p>
            <a:r>
              <a:rPr sz="1150" b="0">
                <a:solidFill>
                  <a:srgbClr val="FFFFFF"/>
                </a:solidFill>
                <a:latin typeface="Consolas"/>
              </a:rPr>
              <a:t> </a:t>
            </a:r>
          </a:p>
          <a:p>
            <a:r>
              <a:rPr sz="1150" b="1">
                <a:solidFill>
                  <a:srgbClr val="4CD97B"/>
                </a:solidFill>
                <a:latin typeface="Consolas"/>
              </a:rPr>
              <a:t>549 / 549 tests passing</a:t>
            </a:r>
          </a:p>
        </p:txBody>
      </p:sp>
      <p:sp>
        <p:nvSpPr>
          <p:cNvPr id="8" name="TextBox 7"/>
          <p:cNvSpPr txBox="1"/>
          <p:nvPr/>
        </p:nvSpPr>
        <p:spPr>
          <a:xfrm>
            <a:off x="7612360" y="6023640"/>
            <a:ext cx="3931960" cy="210000"/>
          </a:xfrm>
          <a:prstGeom prst="rect">
            <a:avLst/>
          </a:prstGeom>
          <a:noFill/>
        </p:spPr>
        <p:txBody>
          <a:bodyPr wrap="square" lIns="0" rIns="0" tIns="0" bIns="0">
            <a:spAutoFit/>
          </a:bodyPr>
          <a:lstStyle/>
          <a:p>
            <a:pPr algn="ctr"/>
            <a:r>
              <a:rPr sz="950" b="1" i="0">
                <a:solidFill>
                  <a:srgbClr val="0E7C86"/>
                </a:solidFill>
                <a:latin typeface="Calibri"/>
              </a:rPr>
              <a:t>Test Results Summary (pytest / vitest)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GitHub Version History</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Milestone-based development: 11 milestone tags from v0.1 through v1.1, then v2.0.0</a:t>
            </a:r>
          </a:p>
          <a:p>
            <a:pPr>
              <a:spcAft>
                <a:spcPts val="1000"/>
              </a:spcAft>
              <a:defRPr sz="1700" b="0">
                <a:solidFill>
                  <a:srgbClr val="333333"/>
                </a:solidFill>
              </a:defRPr>
            </a:pPr>
            <a:r>
              <a:t>•  Post-release hardening tags: v2.1 through v2.4.1 (current)</a:t>
            </a:r>
          </a:p>
          <a:p>
            <a:pPr>
              <a:spcAft>
                <a:spcPts val="1000"/>
              </a:spcAft>
              <a:defRPr sz="1700" b="0">
                <a:solidFill>
                  <a:srgbClr val="333333"/>
                </a:solidFill>
              </a:defRPr>
            </a:pPr>
            <a:r>
              <a:t>•  Each commit scoped to one logical change, imperative present-tense messages</a:t>
            </a:r>
          </a:p>
          <a:p>
            <a:pPr>
              <a:spcAft>
                <a:spcPts val="1000"/>
              </a:spcAft>
              <a:defRPr sz="1700" b="0">
                <a:solidFill>
                  <a:srgbClr val="333333"/>
                </a:solidFill>
              </a:defRPr>
            </a:pPr>
            <a:r>
              <a:t>•  docs/Proposal_vs_Engineering_Additions.md — every addition beyond the original proposal is logged and classified</a:t>
            </a:r>
          </a:p>
          <a:p>
            <a:pPr>
              <a:spcAft>
                <a:spcPts val="1000"/>
              </a:spcAft>
              <a:defRPr sz="1700" b="0">
                <a:solidFill>
                  <a:srgbClr val="333333"/>
                </a:solidFill>
              </a:defRPr>
            </a:pPr>
            <a:r>
              <a:t>•  CI (backend-ci.yml, frontend-ci.yml) runs on every push and pull request</a:t>
            </a:r>
          </a:p>
          <a:p>
            <a:pPr>
              <a:spcAft>
                <a:spcPts val="1000"/>
              </a:spcAft>
              <a:defRPr sz="1700" b="0">
                <a:solidFill>
                  <a:srgbClr val="333333"/>
                </a:solidFill>
              </a:defRPr>
            </a:pPr>
            <a:r>
              <a:t>•  v2.4.1 — latest release: Parent Upcoming Exams widget + Teacher Teaching History label fix</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cxnSp>
        <p:nvCxnSpPr>
          <p:cNvPr id="7" name="Connector 6"/>
          <p:cNvCxnSpPr/>
          <p:nvPr/>
        </p:nvCxnSpPr>
        <p:spPr>
          <a:xfrm>
            <a:off x="8085105" y="1897320"/>
            <a:ext cx="2986470" cy="0"/>
          </a:xfrm>
          <a:prstGeom prst="line">
            <a:avLst/>
          </a:prstGeom>
          <a:ln w="25400">
            <a:solidFill>
              <a:srgbClr val="D8CEA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025105" y="1837320"/>
            <a:ext cx="120000" cy="1200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12360" y="2017320"/>
            <a:ext cx="945490" cy="240000"/>
          </a:xfrm>
          <a:prstGeom prst="rect">
            <a:avLst/>
          </a:prstGeom>
          <a:noFill/>
        </p:spPr>
        <p:txBody>
          <a:bodyPr wrap="square" anchor="ctr" lIns="0" rIns="0" tIns="0" bIns="0">
            <a:spAutoFit/>
          </a:bodyPr>
          <a:lstStyle/>
          <a:p>
            <a:pPr algn="ctr"/>
            <a:r>
              <a:rPr sz="900" b="1">
                <a:solidFill>
                  <a:srgbClr val="0F2442"/>
                </a:solidFill>
                <a:latin typeface="Calibri"/>
              </a:rPr>
              <a:t>v0.1</a:t>
            </a:r>
          </a:p>
        </p:txBody>
      </p:sp>
      <p:sp>
        <p:nvSpPr>
          <p:cNvPr id="10" name="Oval 9"/>
          <p:cNvSpPr/>
          <p:nvPr/>
        </p:nvSpPr>
        <p:spPr>
          <a:xfrm>
            <a:off x="9020595" y="1837320"/>
            <a:ext cx="120000" cy="1200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7850" y="2017320"/>
            <a:ext cx="945490" cy="240000"/>
          </a:xfrm>
          <a:prstGeom prst="rect">
            <a:avLst/>
          </a:prstGeom>
          <a:noFill/>
        </p:spPr>
        <p:txBody>
          <a:bodyPr wrap="square" anchor="ctr" lIns="0" rIns="0" tIns="0" bIns="0">
            <a:spAutoFit/>
          </a:bodyPr>
          <a:lstStyle/>
          <a:p>
            <a:pPr algn="ctr"/>
            <a:r>
              <a:rPr sz="900" b="1">
                <a:solidFill>
                  <a:srgbClr val="0F2442"/>
                </a:solidFill>
                <a:latin typeface="Calibri"/>
              </a:rPr>
              <a:t>v1.1</a:t>
            </a:r>
          </a:p>
        </p:txBody>
      </p:sp>
      <p:sp>
        <p:nvSpPr>
          <p:cNvPr id="12" name="Oval 11"/>
          <p:cNvSpPr/>
          <p:nvPr/>
        </p:nvSpPr>
        <p:spPr>
          <a:xfrm>
            <a:off x="10016085" y="1837320"/>
            <a:ext cx="120000" cy="1200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3340" y="2017320"/>
            <a:ext cx="945490" cy="240000"/>
          </a:xfrm>
          <a:prstGeom prst="rect">
            <a:avLst/>
          </a:prstGeom>
          <a:noFill/>
        </p:spPr>
        <p:txBody>
          <a:bodyPr wrap="square" anchor="ctr" lIns="0" rIns="0" tIns="0" bIns="0">
            <a:spAutoFit/>
          </a:bodyPr>
          <a:lstStyle/>
          <a:p>
            <a:pPr algn="ctr"/>
            <a:r>
              <a:rPr sz="900" b="1">
                <a:solidFill>
                  <a:srgbClr val="0F2442"/>
                </a:solidFill>
                <a:latin typeface="Calibri"/>
              </a:rPr>
              <a:t>v2.0.0</a:t>
            </a:r>
          </a:p>
        </p:txBody>
      </p:sp>
      <p:sp>
        <p:nvSpPr>
          <p:cNvPr id="14" name="Oval 13"/>
          <p:cNvSpPr/>
          <p:nvPr/>
        </p:nvSpPr>
        <p:spPr>
          <a:xfrm>
            <a:off x="11011575" y="1837320"/>
            <a:ext cx="120000" cy="120000"/>
          </a:xfrm>
          <a:prstGeom prst="ellipse">
            <a:avLst/>
          </a:prstGeom>
          <a:solidFill>
            <a:srgbClr val="0F2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98830" y="2017320"/>
            <a:ext cx="945490" cy="240000"/>
          </a:xfrm>
          <a:prstGeom prst="rect">
            <a:avLst/>
          </a:prstGeom>
          <a:noFill/>
        </p:spPr>
        <p:txBody>
          <a:bodyPr wrap="square" anchor="ctr" lIns="0" rIns="0" tIns="0" bIns="0">
            <a:spAutoFit/>
          </a:bodyPr>
          <a:lstStyle/>
          <a:p>
            <a:pPr algn="ctr"/>
            <a:r>
              <a:rPr sz="900" b="1">
                <a:solidFill>
                  <a:srgbClr val="0F2442"/>
                </a:solidFill>
                <a:latin typeface="Calibri"/>
              </a:rPr>
              <a:t>v2.4.1</a:t>
            </a:r>
          </a:p>
        </p:txBody>
      </p:sp>
      <p:sp>
        <p:nvSpPr>
          <p:cNvPr id="16" name="TextBox 15"/>
          <p:cNvSpPr txBox="1"/>
          <p:nvPr/>
        </p:nvSpPr>
        <p:spPr>
          <a:xfrm>
            <a:off x="7612360" y="1577320"/>
            <a:ext cx="3931960" cy="240000"/>
          </a:xfrm>
          <a:prstGeom prst="rect">
            <a:avLst/>
          </a:prstGeom>
          <a:noFill/>
        </p:spPr>
        <p:txBody>
          <a:bodyPr wrap="square" anchor="ctr" lIns="0" rIns="0" tIns="0" bIns="0">
            <a:spAutoFit/>
          </a:bodyPr>
          <a:lstStyle/>
          <a:p>
            <a:pPr algn="ctr"/>
            <a:r>
              <a:rPr sz="1050" b="1">
                <a:solidFill>
                  <a:srgbClr val="0E7C86"/>
                </a:solidFill>
                <a:latin typeface="Calibri"/>
              </a:rPr>
              <a:t>Milestone → Release Timeline</a:t>
            </a:r>
          </a:p>
        </p:txBody>
      </p:sp>
      <p:sp>
        <p:nvSpPr>
          <p:cNvPr id="18" name="TextBox 17"/>
          <p:cNvSpPr txBox="1"/>
          <p:nvPr/>
        </p:nvSpPr>
        <p:spPr>
          <a:xfrm>
            <a:off x="7612360" y="5913640"/>
            <a:ext cx="3931960" cy="210000"/>
          </a:xfrm>
          <a:prstGeom prst="rect">
            <a:avLst/>
          </a:prstGeom>
          <a:noFill/>
        </p:spPr>
        <p:txBody>
          <a:bodyPr wrap="square" lIns="0" rIns="0" tIns="0" bIns="0">
            <a:spAutoFit/>
          </a:bodyPr>
          <a:lstStyle/>
          <a:p>
            <a:pPr algn="ctr"/>
            <a:r>
              <a:rPr sz="900" b="1" i="0">
                <a:solidFill>
                  <a:srgbClr val="0E7C86"/>
                </a:solidFill>
                <a:latin typeface="Calibri"/>
              </a:rPr>
              <a:t>github.com/mhr014-cmd/university-management-system</a:t>
            </a:r>
          </a:p>
        </p:txBody>
      </p:sp>
      <p:pic>
        <p:nvPicPr>
          <p:cNvPr id="19" name="Picture 18" descr="github_repository.jpg"/>
          <p:cNvPicPr>
            <a:picLocks noChangeAspect="1"/>
          </p:cNvPicPr>
          <p:nvPr/>
        </p:nvPicPr>
        <p:blipFill>
          <a:blip r:embed="rId3"/>
          <a:stretch>
            <a:fillRect/>
          </a:stretch>
        </p:blipFill>
        <p:spPr>
          <a:xfrm>
            <a:off x="7612360" y="3699052"/>
            <a:ext cx="3931960" cy="2072541"/>
          </a:xfrm>
          <a:prstGeom prst="rect">
            <a:avLst/>
          </a:prstGeom>
          <a:ln w="9525">
            <a:solidFill>
              <a:srgbClr val="D8CEA8"/>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Challenges Faced</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Enforcing ownership, not just role, on every Parent-scoped endpoint (attendance, results, fees, exams, schedule)</a:t>
            </a:r>
          </a:p>
          <a:p>
            <a:pPr>
              <a:spcAft>
                <a:spcPts val="1000"/>
              </a:spcAft>
              <a:defRPr sz="1700" b="0">
                <a:solidFill>
                  <a:srgbClr val="333333"/>
                </a:solidFill>
              </a:defRPr>
            </a:pPr>
            <a:r>
              <a:t>•  Designing workflow state machines (exam, result, schedule-change) that reject invalid transitions cleanly</a:t>
            </a:r>
          </a:p>
          <a:p>
            <a:pPr>
              <a:spcAft>
                <a:spcPts val="1000"/>
              </a:spcAft>
              <a:defRPr sz="1700" b="0">
                <a:solidFill>
                  <a:srgbClr val="333333"/>
                </a:solidFill>
              </a:defRPr>
            </a:pPr>
            <a:r>
              <a:t>•  Avoiding N+1 query patterns while keeping repositories free of business logic</a:t>
            </a:r>
          </a:p>
          <a:p>
            <a:pPr>
              <a:spcAft>
                <a:spcPts val="1000"/>
              </a:spcAft>
              <a:defRPr sz="1700" b="0">
                <a:solidFill>
                  <a:srgbClr val="333333"/>
                </a:solidFill>
              </a:defRPr>
            </a:pPr>
            <a:r>
              <a:t>•  Keeping derived figures (attendance %, GPA) always live rather than falling into caching for performance</a:t>
            </a:r>
          </a:p>
          <a:p>
            <a:pPr>
              <a:spcAft>
                <a:spcPts val="1000"/>
              </a:spcAft>
              <a:defRPr sz="1700" b="0">
                <a:solidFill>
                  <a:srgbClr val="333333"/>
                </a:solidFill>
              </a:defRPr>
            </a:pPr>
            <a:r>
              <a:t>•  Coordinating a strict layered architecture (Router/Service/Repository) across 11 growing domains</a:t>
            </a:r>
          </a:p>
          <a:p>
            <a:pPr>
              <a:spcAft>
                <a:spcPts val="1000"/>
              </a:spcAft>
              <a:defRPr sz="1700" b="0">
                <a:solidFill>
                  <a:srgbClr val="333333"/>
                </a:solidFill>
              </a:defRPr>
            </a:pPr>
            <a:r>
              <a:t>•  Closing gaps found by later self-audits (e.g. a Parent endpoint with no ownership branch at all) without breaking existing behavior</a:t>
            </a:r>
          </a:p>
          <a:p>
            <a:pPr>
              <a:spcAft>
                <a:spcPts val="1000"/>
              </a:spcAft>
              <a:defRPr sz="1700" b="0">
                <a:solidFill>
                  <a:srgbClr val="333333"/>
                </a:solidFill>
              </a:defRPr>
            </a:pPr>
            <a:r>
              <a:t>•  Balancing test coverage depth against an incremental, milestone-based delivery schedule</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TextBox 6"/>
          <p:cNvSpPr txBox="1"/>
          <p:nvPr/>
        </p:nvSpPr>
        <p:spPr>
          <a:xfrm>
            <a:off x="7612360" y="1577320"/>
            <a:ext cx="3931960" cy="260000"/>
          </a:xfrm>
          <a:prstGeom prst="rect">
            <a:avLst/>
          </a:prstGeom>
          <a:noFill/>
        </p:spPr>
        <p:txBody>
          <a:bodyPr wrap="square" anchor="ctr" lIns="0" rIns="0" tIns="0" bIns="0">
            <a:spAutoFit/>
          </a:bodyPr>
          <a:lstStyle/>
          <a:p>
            <a:pPr algn="ctr"/>
            <a:r>
              <a:rPr sz="1200" b="1">
                <a:solidFill>
                  <a:srgbClr val="0E7C86"/>
                </a:solidFill>
                <a:latin typeface="Calibri"/>
              </a:rPr>
              <a:t>Obstacles Cleared</a:t>
            </a:r>
          </a:p>
        </p:txBody>
      </p:sp>
      <p:cxnSp>
        <p:nvCxnSpPr>
          <p:cNvPr id="8" name="Connector 7"/>
          <p:cNvCxnSpPr/>
          <p:nvPr/>
        </p:nvCxnSpPr>
        <p:spPr>
          <a:xfrm>
            <a:off x="7981556" y="2477320"/>
            <a:ext cx="3193568" cy="0"/>
          </a:xfrm>
          <a:prstGeom prst="line">
            <a:avLst/>
          </a:prstGeom>
          <a:ln w="25400">
            <a:solidFill>
              <a:srgbClr val="D8CEA8"/>
            </a:solidFill>
          </a:ln>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a:off x="7851556" y="1917320"/>
            <a:ext cx="260000" cy="560000"/>
          </a:xfrm>
          <a:prstGeom prst="triangle">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2360" y="2597320"/>
            <a:ext cx="738392" cy="560000"/>
          </a:xfrm>
          <a:prstGeom prst="rect">
            <a:avLst/>
          </a:prstGeom>
          <a:noFill/>
        </p:spPr>
        <p:txBody>
          <a:bodyPr wrap="square" anchor="ctr" lIns="0" rIns="0" tIns="0" bIns="0">
            <a:spAutoFit/>
          </a:bodyPr>
          <a:lstStyle/>
          <a:p>
            <a:pPr algn="ctr"/>
            <a:r>
              <a:rPr sz="850" b="1">
                <a:solidFill>
                  <a:srgbClr val="333333"/>
                </a:solidFill>
                <a:latin typeface="Calibri"/>
              </a:rPr>
              <a:t>Ownership
vs. Role</a:t>
            </a:r>
          </a:p>
        </p:txBody>
      </p:sp>
      <p:sp>
        <p:nvSpPr>
          <p:cNvPr id="11" name="Isosceles Triangle 10"/>
          <p:cNvSpPr/>
          <p:nvPr/>
        </p:nvSpPr>
        <p:spPr>
          <a:xfrm>
            <a:off x="8649948" y="1917320"/>
            <a:ext cx="260000" cy="560000"/>
          </a:xfrm>
          <a:prstGeom prst="triangle">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0752" y="2597320"/>
            <a:ext cx="738392" cy="560000"/>
          </a:xfrm>
          <a:prstGeom prst="rect">
            <a:avLst/>
          </a:prstGeom>
          <a:noFill/>
        </p:spPr>
        <p:txBody>
          <a:bodyPr wrap="square" anchor="ctr" lIns="0" rIns="0" tIns="0" bIns="0">
            <a:spAutoFit/>
          </a:bodyPr>
          <a:lstStyle/>
          <a:p>
            <a:pPr algn="ctr"/>
            <a:r>
              <a:rPr sz="850" b="1">
                <a:solidFill>
                  <a:srgbClr val="333333"/>
                </a:solidFill>
                <a:latin typeface="Calibri"/>
              </a:rPr>
              <a:t>State
Machines</a:t>
            </a:r>
          </a:p>
        </p:txBody>
      </p:sp>
      <p:sp>
        <p:nvSpPr>
          <p:cNvPr id="13" name="Isosceles Triangle 12"/>
          <p:cNvSpPr/>
          <p:nvPr/>
        </p:nvSpPr>
        <p:spPr>
          <a:xfrm>
            <a:off x="9448340" y="1917320"/>
            <a:ext cx="260000" cy="560000"/>
          </a:xfrm>
          <a:prstGeom prst="triangle">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09144" y="2597320"/>
            <a:ext cx="738392" cy="560000"/>
          </a:xfrm>
          <a:prstGeom prst="rect">
            <a:avLst/>
          </a:prstGeom>
          <a:noFill/>
        </p:spPr>
        <p:txBody>
          <a:bodyPr wrap="square" anchor="ctr" lIns="0" rIns="0" tIns="0" bIns="0">
            <a:spAutoFit/>
          </a:bodyPr>
          <a:lstStyle/>
          <a:p>
            <a:pPr algn="ctr"/>
            <a:r>
              <a:rPr sz="850" b="1">
                <a:solidFill>
                  <a:srgbClr val="333333"/>
                </a:solidFill>
                <a:latin typeface="Calibri"/>
              </a:rPr>
              <a:t>N+1
Queries</a:t>
            </a:r>
          </a:p>
        </p:txBody>
      </p:sp>
      <p:sp>
        <p:nvSpPr>
          <p:cNvPr id="15" name="Isosceles Triangle 14"/>
          <p:cNvSpPr/>
          <p:nvPr/>
        </p:nvSpPr>
        <p:spPr>
          <a:xfrm>
            <a:off x="10246732" y="1917320"/>
            <a:ext cx="260000" cy="560000"/>
          </a:xfrm>
          <a:prstGeom prst="triangle">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07536" y="2597320"/>
            <a:ext cx="738392" cy="560000"/>
          </a:xfrm>
          <a:prstGeom prst="rect">
            <a:avLst/>
          </a:prstGeom>
          <a:noFill/>
        </p:spPr>
        <p:txBody>
          <a:bodyPr wrap="square" anchor="ctr" lIns="0" rIns="0" tIns="0" bIns="0">
            <a:spAutoFit/>
          </a:bodyPr>
          <a:lstStyle/>
          <a:p>
            <a:pPr algn="ctr"/>
            <a:r>
              <a:rPr sz="850" b="1">
                <a:solidFill>
                  <a:srgbClr val="333333"/>
                </a:solidFill>
                <a:latin typeface="Calibri"/>
              </a:rPr>
              <a:t>Live
Figures</a:t>
            </a:r>
          </a:p>
        </p:txBody>
      </p:sp>
      <p:sp>
        <p:nvSpPr>
          <p:cNvPr id="17" name="Isosceles Triangle 16"/>
          <p:cNvSpPr/>
          <p:nvPr/>
        </p:nvSpPr>
        <p:spPr>
          <a:xfrm>
            <a:off x="11045124" y="1917320"/>
            <a:ext cx="260000" cy="560000"/>
          </a:xfrm>
          <a:prstGeom prst="triangle">
            <a:avLst/>
          </a:prstGeom>
          <a:solidFill>
            <a:srgbClr val="5A4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05928" y="2597320"/>
            <a:ext cx="738392" cy="560000"/>
          </a:xfrm>
          <a:prstGeom prst="rect">
            <a:avLst/>
          </a:prstGeom>
          <a:noFill/>
        </p:spPr>
        <p:txBody>
          <a:bodyPr wrap="square" anchor="ctr" lIns="0" rIns="0" tIns="0" bIns="0">
            <a:spAutoFit/>
          </a:bodyPr>
          <a:lstStyle/>
          <a:p>
            <a:pPr algn="ctr"/>
            <a:r>
              <a:rPr sz="850" b="1">
                <a:solidFill>
                  <a:srgbClr val="333333"/>
                </a:solidFill>
                <a:latin typeface="Calibri"/>
              </a:rPr>
              <a:t>Layered
Architecture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Future Scope</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A shared, Redis-backed rate limiter to support horizontally-scaled deployment</a:t>
            </a:r>
          </a:p>
          <a:p>
            <a:pPr>
              <a:spcAft>
                <a:spcPts val="1000"/>
              </a:spcAft>
              <a:defRPr sz="1700" b="0">
                <a:solidFill>
                  <a:srgbClr val="333333"/>
                </a:solidFill>
              </a:defRPr>
            </a:pPr>
            <a:r>
              <a:t>•  Email/SMS notification delivery channels, in addition to the existing in-app feed</a:t>
            </a:r>
          </a:p>
          <a:p>
            <a:pPr>
              <a:spcAft>
                <a:spcPts val="1000"/>
              </a:spcAft>
              <a:defRPr sz="1700" b="0">
                <a:solidFill>
                  <a:srgbClr val="333333"/>
                </a:solidFill>
              </a:defRPr>
            </a:pPr>
            <a:r>
              <a:t>•  A scheduled-task mechanism to support due-date reminders and other time-based triggers</a:t>
            </a:r>
          </a:p>
          <a:p>
            <a:pPr>
              <a:spcAft>
                <a:spcPts val="1000"/>
              </a:spcAft>
              <a:defRPr sz="1700" b="0">
                <a:solidFill>
                  <a:srgbClr val="333333"/>
                </a:solidFill>
              </a:defRPr>
            </a:pPr>
            <a:r>
              <a:t>•  An overall (cross-semester) CGPA aggregate endpoint</a:t>
            </a:r>
          </a:p>
          <a:p>
            <a:pPr>
              <a:spcAft>
                <a:spcPts val="1000"/>
              </a:spcAft>
              <a:defRPr sz="1700" b="0">
                <a:solidFill>
                  <a:srgbClr val="333333"/>
                </a:solidFill>
              </a:defRPr>
            </a:pPr>
            <a:r>
              <a:t>•  A Teacher-remarks field on the Result record, for narrative course-level feedback</a:t>
            </a:r>
          </a:p>
          <a:p>
            <a:pPr>
              <a:spcAft>
                <a:spcPts val="1000"/>
              </a:spcAft>
              <a:defRPr sz="1700" b="0">
                <a:solidFill>
                  <a:srgbClr val="333333"/>
                </a:solidFill>
              </a:defRPr>
            </a:pPr>
            <a:r>
              <a:t>•  A production-oriented Docker Compose profile (reverse proxy/TLS, managed database, multiple replicas)</a:t>
            </a:r>
          </a:p>
          <a:p>
            <a:pPr>
              <a:spcAft>
                <a:spcPts val="1000"/>
              </a:spcAft>
              <a:defRPr sz="1700" b="0">
                <a:solidFill>
                  <a:srgbClr val="333333"/>
                </a:solidFill>
              </a:defRPr>
            </a:pPr>
            <a:r>
              <a:t>•  An in-app Parent-Teacher Communication/Messaging module, if required by a future scope decision</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sp>
        <p:nvSpPr>
          <p:cNvPr id="7" name="TextBox 6"/>
          <p:cNvSpPr txBox="1"/>
          <p:nvPr/>
        </p:nvSpPr>
        <p:spPr>
          <a:xfrm>
            <a:off x="7612360" y="1577320"/>
            <a:ext cx="3931960" cy="260000"/>
          </a:xfrm>
          <a:prstGeom prst="rect">
            <a:avLst/>
          </a:prstGeom>
          <a:noFill/>
        </p:spPr>
        <p:txBody>
          <a:bodyPr wrap="square" anchor="ctr" lIns="0" rIns="0" tIns="0" bIns="0">
            <a:spAutoFit/>
          </a:bodyPr>
          <a:lstStyle/>
          <a:p>
            <a:pPr algn="ctr"/>
            <a:r>
              <a:rPr sz="1200" b="1">
                <a:solidFill>
                  <a:srgbClr val="0E7C86"/>
                </a:solidFill>
                <a:latin typeface="Calibri"/>
              </a:rPr>
              <a:t>Roadmap Beyond v2.4.1</a:t>
            </a:r>
          </a:p>
        </p:txBody>
      </p:sp>
      <p:sp>
        <p:nvSpPr>
          <p:cNvPr id="8" name="Right Arrow 7"/>
          <p:cNvSpPr/>
          <p:nvPr/>
        </p:nvSpPr>
        <p:spPr>
          <a:xfrm>
            <a:off x="7612360" y="2927320"/>
            <a:ext cx="3931960" cy="520000"/>
          </a:xfrm>
          <a:prstGeom prst="rightArrow">
            <a:avLst/>
          </a:prstGeom>
          <a:solidFill>
            <a:srgbClr val="DDEEEF"/>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90999" y="2967320"/>
            <a:ext cx="676297" cy="440000"/>
          </a:xfrm>
          <a:prstGeom prst="rect">
            <a:avLst/>
          </a:prstGeom>
          <a:noFill/>
        </p:spPr>
        <p:txBody>
          <a:bodyPr wrap="square" anchor="ctr" lIns="0" rIns="0" tIns="0" bIns="0">
            <a:spAutoFit/>
          </a:bodyPr>
          <a:lstStyle/>
          <a:p>
            <a:pPr algn="ctr"/>
            <a:r>
              <a:rPr sz="850" b="1">
                <a:solidFill>
                  <a:srgbClr val="0F2442"/>
                </a:solidFill>
                <a:latin typeface="Calibri"/>
              </a:rPr>
              <a:t>v2.4.1
(Today)</a:t>
            </a:r>
          </a:p>
        </p:txBody>
      </p:sp>
      <p:sp>
        <p:nvSpPr>
          <p:cNvPr id="10" name="TextBox 9"/>
          <p:cNvSpPr txBox="1"/>
          <p:nvPr/>
        </p:nvSpPr>
        <p:spPr>
          <a:xfrm>
            <a:off x="8367296" y="2967320"/>
            <a:ext cx="676297" cy="440000"/>
          </a:xfrm>
          <a:prstGeom prst="rect">
            <a:avLst/>
          </a:prstGeom>
          <a:noFill/>
        </p:spPr>
        <p:txBody>
          <a:bodyPr wrap="square" anchor="ctr" lIns="0" rIns="0" tIns="0" bIns="0">
            <a:spAutoFit/>
          </a:bodyPr>
          <a:lstStyle/>
          <a:p>
            <a:pPr algn="ctr"/>
            <a:r>
              <a:rPr sz="850" b="0">
                <a:solidFill>
                  <a:srgbClr val="333333"/>
                </a:solidFill>
                <a:latin typeface="Calibri"/>
              </a:rPr>
              <a:t>Rate Limiter
+ Redis</a:t>
            </a:r>
          </a:p>
        </p:txBody>
      </p:sp>
      <p:sp>
        <p:nvSpPr>
          <p:cNvPr id="11" name="TextBox 10"/>
          <p:cNvSpPr txBox="1"/>
          <p:nvPr/>
        </p:nvSpPr>
        <p:spPr>
          <a:xfrm>
            <a:off x="9043593" y="2967320"/>
            <a:ext cx="676297" cy="440000"/>
          </a:xfrm>
          <a:prstGeom prst="rect">
            <a:avLst/>
          </a:prstGeom>
          <a:noFill/>
        </p:spPr>
        <p:txBody>
          <a:bodyPr wrap="square" anchor="ctr" lIns="0" rIns="0" tIns="0" bIns="0">
            <a:spAutoFit/>
          </a:bodyPr>
          <a:lstStyle/>
          <a:p>
            <a:pPr algn="ctr"/>
            <a:r>
              <a:rPr sz="850" b="0">
                <a:solidFill>
                  <a:srgbClr val="333333"/>
                </a:solidFill>
                <a:latin typeface="Calibri"/>
              </a:rPr>
              <a:t>Email / SMS
Channel</a:t>
            </a:r>
          </a:p>
        </p:txBody>
      </p:sp>
      <p:sp>
        <p:nvSpPr>
          <p:cNvPr id="12" name="TextBox 11"/>
          <p:cNvSpPr txBox="1"/>
          <p:nvPr/>
        </p:nvSpPr>
        <p:spPr>
          <a:xfrm>
            <a:off x="9719890" y="2967320"/>
            <a:ext cx="676297" cy="440000"/>
          </a:xfrm>
          <a:prstGeom prst="rect">
            <a:avLst/>
          </a:prstGeom>
          <a:noFill/>
        </p:spPr>
        <p:txBody>
          <a:bodyPr wrap="square" anchor="ctr" lIns="0" rIns="0" tIns="0" bIns="0">
            <a:spAutoFit/>
          </a:bodyPr>
          <a:lstStyle/>
          <a:p>
            <a:pPr algn="ctr"/>
            <a:r>
              <a:rPr sz="850" b="0">
                <a:solidFill>
                  <a:srgbClr val="333333"/>
                </a:solidFill>
                <a:latin typeface="Calibri"/>
              </a:rPr>
              <a:t>Scheduler
+ CGPA</a:t>
            </a:r>
          </a:p>
        </p:txBody>
      </p:sp>
      <p:sp>
        <p:nvSpPr>
          <p:cNvPr id="13" name="TextBox 12"/>
          <p:cNvSpPr txBox="1"/>
          <p:nvPr/>
        </p:nvSpPr>
        <p:spPr>
          <a:xfrm>
            <a:off x="10396187" y="2967320"/>
            <a:ext cx="676297" cy="440000"/>
          </a:xfrm>
          <a:prstGeom prst="rect">
            <a:avLst/>
          </a:prstGeom>
          <a:noFill/>
        </p:spPr>
        <p:txBody>
          <a:bodyPr wrap="square" anchor="ctr" lIns="0" rIns="0" tIns="0" bIns="0">
            <a:spAutoFit/>
          </a:bodyPr>
          <a:lstStyle/>
          <a:p>
            <a:pPr algn="ctr"/>
            <a:r>
              <a:rPr sz="850" b="0">
                <a:solidFill>
                  <a:srgbClr val="333333"/>
                </a:solidFill>
                <a:latin typeface="Calibri"/>
              </a:rPr>
              <a:t>Docker
Production</a:t>
            </a:r>
          </a:p>
        </p:txBody>
      </p:sp>
      <p:sp>
        <p:nvSpPr>
          <p:cNvPr id="14" name="TextBox 13"/>
          <p:cNvSpPr txBox="1"/>
          <p:nvPr/>
        </p:nvSpPr>
        <p:spPr>
          <a:xfrm>
            <a:off x="7612360" y="3627320"/>
            <a:ext cx="3931960" cy="210000"/>
          </a:xfrm>
          <a:prstGeom prst="rect">
            <a:avLst/>
          </a:prstGeom>
          <a:noFill/>
        </p:spPr>
        <p:txBody>
          <a:bodyPr wrap="square" lIns="0" rIns="0" tIns="0" bIns="0">
            <a:spAutoFit/>
          </a:bodyPr>
          <a:lstStyle/>
          <a:p>
            <a:pPr algn="ctr"/>
            <a:r>
              <a:rPr sz="900" b="0" i="1">
                <a:solidFill>
                  <a:srgbClr val="5A4A1E"/>
                </a:solidFill>
                <a:latin typeface="Calibri"/>
              </a:rPr>
              <a:t>Deliberately unbuilt capabilities — documented, not silently omitted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058400" cy="777240"/>
          </a:xfrm>
          <a:prstGeom prst="rect">
            <a:avLst/>
          </a:prstGeom>
          <a:noFill/>
        </p:spPr>
        <p:txBody>
          <a:bodyPr wrap="square">
            <a:spAutoFit/>
          </a:bodyPr>
          <a:lstStyle/>
          <a:p>
            <a:pPr>
              <a:defRPr sz="3000" b="1">
                <a:solidFill>
                  <a:srgbClr val="FFFFFF"/>
                </a:solidFill>
              </a:defRPr>
            </a:pPr>
            <a:r>
              <a:t>Conclusion</a:t>
            </a:r>
          </a:p>
        </p:txBody>
      </p:sp>
      <p:sp>
        <p:nvSpPr>
          <p:cNvPr id="5" name="TextBox 4"/>
          <p:cNvSpPr txBox="1"/>
          <p:nvPr/>
        </p:nvSpPr>
        <p:spPr>
          <a:xfrm>
            <a:off x="502920" y="1417320"/>
            <a:ext cx="6766560" cy="4846320"/>
          </a:xfrm>
          <a:prstGeom prst="rect">
            <a:avLst/>
          </a:prstGeom>
          <a:noFill/>
        </p:spPr>
        <p:txBody>
          <a:bodyPr wrap="square">
            <a:spAutoFit/>
          </a:bodyPr>
          <a:lstStyle/>
          <a:p>
            <a:pPr>
              <a:spcAft>
                <a:spcPts val="1000"/>
              </a:spcAft>
              <a:defRPr sz="1700" b="0">
                <a:solidFill>
                  <a:srgbClr val="333333"/>
                </a:solidFill>
              </a:defRPr>
            </a:pPr>
            <a:r>
              <a:t>•  Delivers a complete, verifiably working replacement for fragmented spreadsheet/email/finance-tool tracking</a:t>
            </a:r>
          </a:p>
          <a:p>
            <a:pPr>
              <a:spcAft>
                <a:spcPts val="1000"/>
              </a:spcAft>
              <a:defRPr sz="1700" b="0">
                <a:solidFill>
                  <a:srgbClr val="333333"/>
                </a:solidFill>
              </a:defRPr>
            </a:pPr>
            <a:r>
              <a:t>•  Every functional requirement from the original proposal was implemented and tested</a:t>
            </a:r>
          </a:p>
          <a:p>
            <a:pPr>
              <a:spcAft>
                <a:spcPts val="1000"/>
              </a:spcAft>
              <a:defRPr sz="1700" b="0">
                <a:solidFill>
                  <a:srgbClr val="333333"/>
                </a:solidFill>
              </a:defRPr>
            </a:pPr>
            <a:r>
              <a:t>•  Every access-control boundary is enforced server-side and explicitly, negatively tested</a:t>
            </a:r>
          </a:p>
          <a:p>
            <a:pPr>
              <a:spcAft>
                <a:spcPts val="1000"/>
              </a:spcAft>
              <a:defRPr sz="1700" b="0">
                <a:solidFill>
                  <a:srgbClr val="333333"/>
                </a:solidFill>
              </a:defRPr>
            </a:pPr>
            <a:r>
              <a:t>•  Every derived figure is computed live — never cached or duplicated</a:t>
            </a:r>
          </a:p>
          <a:p>
            <a:pPr>
              <a:spcAft>
                <a:spcPts val="1000"/>
              </a:spcAft>
              <a:defRPr sz="1700" b="0">
                <a:solidFill>
                  <a:srgbClr val="333333"/>
                </a:solidFill>
              </a:defRPr>
            </a:pPr>
            <a:r>
              <a:t>•  11 backend domains, 82 endpoints, 26 tables, kept maintainable by a strict layered architecture</a:t>
            </a:r>
          </a:p>
          <a:p>
            <a:pPr>
              <a:spcAft>
                <a:spcPts val="1000"/>
              </a:spcAft>
              <a:defRPr sz="1700" b="0">
                <a:solidFill>
                  <a:srgbClr val="333333"/>
                </a:solidFill>
              </a:defRPr>
            </a:pPr>
            <a:r>
              <a:t>•  549 automated tests, run continuously via CI, give confidence beyond manual inspection alone</a:t>
            </a:r>
          </a:p>
          <a:p>
            <a:pPr>
              <a:spcAft>
                <a:spcPts val="1000"/>
              </a:spcAft>
              <a:defRPr sz="1700" b="0">
                <a:solidFill>
                  <a:srgbClr val="333333"/>
                </a:solidFill>
              </a:defRPr>
            </a:pPr>
            <a:r>
              <a:t>•  Deliberately unbuilt capabilities are documented, not silently omitted</a:t>
            </a:r>
          </a:p>
        </p:txBody>
      </p:sp>
      <p:sp>
        <p:nvSpPr>
          <p:cNvPr id="6" name="Rounded Rectangle 5"/>
          <p:cNvSpPr/>
          <p:nvPr/>
        </p:nvSpPr>
        <p:spPr>
          <a:xfrm>
            <a:off x="7452360" y="1417320"/>
            <a:ext cx="4251960" cy="4846320"/>
          </a:xfrm>
          <a:prstGeom prst="roundRect">
            <a:avLst/>
          </a:prstGeom>
          <a:solidFill>
            <a:srgbClr val="F3F0E7"/>
          </a:solidFill>
          <a:ln w="9525">
            <a:solidFill>
              <a:srgbClr val="D8CEA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Bef>
                <a:spcPts val="0"/>
              </a:spcBef>
              <a:defRPr b="1" sz="1300">
                <a:solidFill>
                  <a:srgbClr val="0E7C86"/>
                </a:solidFill>
              </a:defRPr>
            </a:pPr>
          </a:p>
        </p:txBody>
      </p:sp>
      <p:pic>
        <p:nvPicPr>
          <p:cNvPr id="7" name="Picture 6" descr="02_Admin_Dashboard.jpg"/>
          <p:cNvPicPr>
            <a:picLocks noChangeAspect="1"/>
          </p:cNvPicPr>
          <p:nvPr/>
        </p:nvPicPr>
        <p:blipFill>
          <a:blip r:embed="rId3"/>
          <a:stretch>
            <a:fillRect/>
          </a:stretch>
        </p:blipFill>
        <p:spPr>
          <a:xfrm>
            <a:off x="7612360" y="2216582"/>
            <a:ext cx="1905980" cy="698636"/>
          </a:xfrm>
          <a:prstGeom prst="rect">
            <a:avLst/>
          </a:prstGeom>
          <a:ln w="9525">
            <a:solidFill>
              <a:srgbClr val="D8CEA8"/>
            </a:solidFill>
          </a:ln>
        </p:spPr>
      </p:pic>
      <p:sp>
        <p:nvSpPr>
          <p:cNvPr id="8" name="TextBox 7"/>
          <p:cNvSpPr txBox="1"/>
          <p:nvPr/>
        </p:nvSpPr>
        <p:spPr>
          <a:xfrm>
            <a:off x="7612360" y="3590480"/>
            <a:ext cx="1905980" cy="210000"/>
          </a:xfrm>
          <a:prstGeom prst="rect">
            <a:avLst/>
          </a:prstGeom>
          <a:noFill/>
        </p:spPr>
        <p:txBody>
          <a:bodyPr wrap="square" lIns="0" rIns="0" tIns="0" bIns="0">
            <a:spAutoFit/>
          </a:bodyPr>
          <a:lstStyle/>
          <a:p>
            <a:pPr algn="ctr"/>
            <a:r>
              <a:rPr sz="900" b="1" i="0">
                <a:solidFill>
                  <a:srgbClr val="0E7C86"/>
                </a:solidFill>
                <a:latin typeface="Calibri"/>
              </a:rPr>
              <a:t>Admin Dashboard</a:t>
            </a:r>
          </a:p>
        </p:txBody>
      </p:sp>
      <p:pic>
        <p:nvPicPr>
          <p:cNvPr id="9" name="Picture 8" descr="18_Teacher_Dashboard.jpg"/>
          <p:cNvPicPr>
            <a:picLocks noChangeAspect="1"/>
          </p:cNvPicPr>
          <p:nvPr/>
        </p:nvPicPr>
        <p:blipFill>
          <a:blip r:embed="rId4"/>
          <a:stretch>
            <a:fillRect/>
          </a:stretch>
        </p:blipFill>
        <p:spPr>
          <a:xfrm>
            <a:off x="9638340" y="2403158"/>
            <a:ext cx="1905980" cy="325484"/>
          </a:xfrm>
          <a:prstGeom prst="rect">
            <a:avLst/>
          </a:prstGeom>
          <a:ln w="9525">
            <a:solidFill>
              <a:srgbClr val="D8CEA8"/>
            </a:solidFill>
          </a:ln>
        </p:spPr>
      </p:pic>
      <p:sp>
        <p:nvSpPr>
          <p:cNvPr id="10" name="TextBox 9"/>
          <p:cNvSpPr txBox="1"/>
          <p:nvPr/>
        </p:nvSpPr>
        <p:spPr>
          <a:xfrm>
            <a:off x="9638340" y="3590480"/>
            <a:ext cx="1905980" cy="210000"/>
          </a:xfrm>
          <a:prstGeom prst="rect">
            <a:avLst/>
          </a:prstGeom>
          <a:noFill/>
        </p:spPr>
        <p:txBody>
          <a:bodyPr wrap="square" lIns="0" rIns="0" tIns="0" bIns="0">
            <a:spAutoFit/>
          </a:bodyPr>
          <a:lstStyle/>
          <a:p>
            <a:pPr algn="ctr"/>
            <a:r>
              <a:rPr sz="900" b="1" i="0">
                <a:solidFill>
                  <a:srgbClr val="0E7C86"/>
                </a:solidFill>
                <a:latin typeface="Calibri"/>
              </a:rPr>
              <a:t>Teacher Dashboard</a:t>
            </a:r>
          </a:p>
        </p:txBody>
      </p:sp>
      <p:pic>
        <p:nvPicPr>
          <p:cNvPr id="11" name="Picture 10" descr="25_Student_Dashboard.jpg"/>
          <p:cNvPicPr>
            <a:picLocks noChangeAspect="1"/>
          </p:cNvPicPr>
          <p:nvPr/>
        </p:nvPicPr>
        <p:blipFill>
          <a:blip r:embed="rId5"/>
          <a:stretch>
            <a:fillRect/>
          </a:stretch>
        </p:blipFill>
        <p:spPr>
          <a:xfrm>
            <a:off x="7612360" y="4616085"/>
            <a:ext cx="1905980" cy="545949"/>
          </a:xfrm>
          <a:prstGeom prst="rect">
            <a:avLst/>
          </a:prstGeom>
          <a:ln w="9525">
            <a:solidFill>
              <a:srgbClr val="D8CEA8"/>
            </a:solidFill>
          </a:ln>
        </p:spPr>
      </p:pic>
      <p:sp>
        <p:nvSpPr>
          <p:cNvPr id="12" name="TextBox 11"/>
          <p:cNvSpPr txBox="1"/>
          <p:nvPr/>
        </p:nvSpPr>
        <p:spPr>
          <a:xfrm>
            <a:off x="7612360" y="5913640"/>
            <a:ext cx="1905980" cy="210000"/>
          </a:xfrm>
          <a:prstGeom prst="rect">
            <a:avLst/>
          </a:prstGeom>
          <a:noFill/>
        </p:spPr>
        <p:txBody>
          <a:bodyPr wrap="square" lIns="0" rIns="0" tIns="0" bIns="0">
            <a:spAutoFit/>
          </a:bodyPr>
          <a:lstStyle/>
          <a:p>
            <a:pPr algn="ctr"/>
            <a:r>
              <a:rPr sz="900" b="1" i="0">
                <a:solidFill>
                  <a:srgbClr val="0E7C86"/>
                </a:solidFill>
                <a:latin typeface="Calibri"/>
              </a:rPr>
              <a:t>Student Dashboard</a:t>
            </a:r>
          </a:p>
        </p:txBody>
      </p:sp>
      <p:pic>
        <p:nvPicPr>
          <p:cNvPr id="13" name="Picture 12" descr="34_Parent_Dashboard.jpg"/>
          <p:cNvPicPr>
            <a:picLocks noChangeAspect="1"/>
          </p:cNvPicPr>
          <p:nvPr/>
        </p:nvPicPr>
        <p:blipFill>
          <a:blip r:embed="rId6"/>
          <a:stretch>
            <a:fillRect/>
          </a:stretch>
        </p:blipFill>
        <p:spPr>
          <a:xfrm>
            <a:off x="9638340" y="4434351"/>
            <a:ext cx="1905980" cy="909418"/>
          </a:xfrm>
          <a:prstGeom prst="rect">
            <a:avLst/>
          </a:prstGeom>
          <a:ln w="9525">
            <a:solidFill>
              <a:srgbClr val="D8CEA8"/>
            </a:solidFill>
          </a:ln>
        </p:spPr>
      </p:pic>
      <p:sp>
        <p:nvSpPr>
          <p:cNvPr id="14" name="TextBox 13"/>
          <p:cNvSpPr txBox="1"/>
          <p:nvPr/>
        </p:nvSpPr>
        <p:spPr>
          <a:xfrm>
            <a:off x="9638340" y="5913640"/>
            <a:ext cx="1905980" cy="210000"/>
          </a:xfrm>
          <a:prstGeom prst="rect">
            <a:avLst/>
          </a:prstGeom>
          <a:noFill/>
        </p:spPr>
        <p:txBody>
          <a:bodyPr wrap="square" lIns="0" rIns="0" tIns="0" bIns="0">
            <a:spAutoFit/>
          </a:bodyPr>
          <a:lstStyle/>
          <a:p>
            <a:pPr algn="ctr"/>
            <a:r>
              <a:rPr sz="900" b="1" i="0">
                <a:solidFill>
                  <a:srgbClr val="0E7C86"/>
                </a:solidFill>
                <a:latin typeface="Calibri"/>
              </a:rPr>
              <a:t>Parent Dashboard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63500"/>
          </a:xfrm>
          <a:prstGeom prst="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332720" cy="1371600"/>
          </a:xfrm>
          <a:prstGeom prst="rect">
            <a:avLst/>
          </a:prstGeom>
          <a:noFill/>
        </p:spPr>
        <p:txBody>
          <a:bodyPr wrap="square">
            <a:spAutoFit/>
          </a:bodyPr>
          <a:lstStyle/>
          <a:p>
            <a:pPr>
              <a:defRPr sz="4600" b="1">
                <a:solidFill>
                  <a:srgbClr val="FFFFFF"/>
                </a:solidFill>
              </a:defRPr>
            </a:pPr>
            <a:r>
              <a:t>Questions</a:t>
            </a:r>
          </a:p>
        </p:txBody>
      </p:sp>
      <p:sp>
        <p:nvSpPr>
          <p:cNvPr id="5" name="TextBox 4"/>
          <p:cNvSpPr txBox="1"/>
          <p:nvPr/>
        </p:nvSpPr>
        <p:spPr>
          <a:xfrm>
            <a:off x="914400" y="4343400"/>
            <a:ext cx="10058400" cy="1188720"/>
          </a:xfrm>
          <a:prstGeom prst="rect">
            <a:avLst/>
          </a:prstGeom>
          <a:noFill/>
        </p:spPr>
        <p:txBody>
          <a:bodyPr wrap="square">
            <a:spAutoFit/>
          </a:bodyPr>
          <a:lstStyle/>
          <a:p>
            <a:pPr>
              <a:defRPr sz="1800">
                <a:solidFill>
                  <a:srgbClr val="C9DDE4"/>
                </a:solidFill>
              </a:defRPr>
            </a:pPr>
            <a:r>
              <a:t>Thank you for your time.</a:t>
            </a:r>
          </a:p>
          <a:p>
            <a:pPr>
              <a:defRPr sz="1400">
                <a:solidFill>
                  <a:srgbClr val="B9CED6"/>
                </a:solidFill>
              </a:defRPr>
            </a:pPr>
            <a:r>
              <a:t>University Management System (ICT Education) — v2.4.1</a:t>
            </a:r>
          </a:p>
        </p:txBody>
      </p:sp>
      <p:sp>
        <p:nvSpPr>
          <p:cNvPr id="6" name="TextBox 5"/>
          <p:cNvSpPr txBox="1"/>
          <p:nvPr/>
        </p:nvSpPr>
        <p:spPr>
          <a:xfrm>
            <a:off x="457200" y="6510528"/>
            <a:ext cx="8229600" cy="274320"/>
          </a:xfrm>
          <a:prstGeom prst="rect">
            <a:avLst/>
          </a:prstGeom>
          <a:noFill/>
        </p:spPr>
        <p:txBody>
          <a:bodyPr wrap="none">
            <a:spAutoFit/>
          </a:bodyPr>
          <a:lstStyle/>
          <a:p>
            <a:pPr>
              <a:defRPr sz="1000">
                <a:solidFill>
                  <a:srgbClr val="6B6B6B"/>
                </a:solidFill>
              </a:defRPr>
            </a:pPr>
            <a:r>
              <a:t>ICT Education — University Management System | v2.4.1</a:t>
            </a:r>
          </a:p>
        </p:txBody>
      </p:sp>
      <p:sp>
        <p:nvSpPr>
          <p:cNvPr id="7" name="TextBox 6"/>
          <p:cNvSpPr txBox="1"/>
          <p:nvPr/>
        </p:nvSpPr>
        <p:spPr>
          <a:xfrm>
            <a:off x="11155680" y="6510528"/>
            <a:ext cx="822960" cy="274320"/>
          </a:xfrm>
          <a:prstGeom prst="rect">
            <a:avLst/>
          </a:prstGeom>
          <a:noFill/>
        </p:spPr>
        <p:txBody>
          <a:bodyPr wrap="none">
            <a:spAutoFit/>
          </a:bodyPr>
          <a:lstStyle/>
          <a:p>
            <a:pPr algn="r">
              <a:defRPr sz="1000">
                <a:solidFill>
                  <a:srgbClr val="6B6B6B"/>
                </a:solidFill>
              </a:defRPr>
            </a:pPr>
            <a: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